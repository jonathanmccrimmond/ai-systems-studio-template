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0" y="-457200"/>
            <a:ext cx="3840480" cy="3840480"/>
          </a:xfrm>
          <a:prstGeom prst="ellipse">
            <a:avLst/>
          </a:prstGeom>
          <a:solidFill>
            <a:srgbClr val="DBEAFE">
              <a:alpha val="60000"/>
            </a:srgbClr>
          </a:solidFill>
          <a:ln w="12700">
            <a:solidFill>
              <a:srgbClr val="DBEAFE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048" y="182880"/>
            <a:ext cx="347472" cy="347472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228600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84048" y="658368"/>
            <a:ext cx="822960" cy="822960"/>
          </a:xfrm>
          <a:prstGeom prst="ellipse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822960"/>
            <a:ext cx="493776" cy="49377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71323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F6B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Systems Studio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384048" y="1170432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Studio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384048" y="1719072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Template</a:t>
            </a:r>
            <a:endParaRPr lang="en-US" sz="3600" dirty="0"/>
          </a:p>
        </p:txBody>
      </p:sp>
      <p:sp>
        <p:nvSpPr>
          <p:cNvPr id="11" name="Text 8"/>
          <p:cNvSpPr/>
          <p:nvPr/>
        </p:nvSpPr>
        <p:spPr>
          <a:xfrm>
            <a:off x="384048" y="242316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operating system behind every studio project — a reusable, agent-driven repo template for consistent docs, decks, and portfolio.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035040" y="1097280"/>
            <a:ext cx="2377440" cy="365760"/>
          </a:xfrm>
          <a:prstGeom prst="roundRect">
            <a:avLst>
              <a:gd name="adj" fmla="val 15000"/>
            </a:avLst>
          </a:prstGeom>
          <a:solidFill>
            <a:srgbClr val="0D9488">
              <a:alpha val="75000"/>
            </a:srgbClr>
          </a:solidFill>
          <a:ln w="12700">
            <a:solidFill>
              <a:srgbClr val="0D9488">
                <a:alpha val="75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144768" y="1508760"/>
            <a:ext cx="2377440" cy="365760"/>
          </a:xfrm>
          <a:prstGeom prst="roundRect">
            <a:avLst>
              <a:gd name="adj" fmla="val 15000"/>
            </a:avLst>
          </a:prstGeom>
          <a:solidFill>
            <a:srgbClr val="2F6BFF">
              <a:alpha val="75000"/>
            </a:srgbClr>
          </a:solidFill>
          <a:ln w="12700">
            <a:solidFill>
              <a:srgbClr val="2F6BFF">
                <a:alpha val="75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254496" y="1920240"/>
            <a:ext cx="2377440" cy="365760"/>
          </a:xfrm>
          <a:prstGeom prst="roundRect">
            <a:avLst>
              <a:gd name="adj" fmla="val 15000"/>
            </a:avLst>
          </a:prstGeom>
          <a:solidFill>
            <a:srgbClr val="7C3AED">
              <a:alpha val="75000"/>
            </a:srgbClr>
          </a:solidFill>
          <a:ln w="12700">
            <a:solidFill>
              <a:srgbClr val="7C3AED">
                <a:alpha val="75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364224" y="2331720"/>
            <a:ext cx="2377440" cy="365760"/>
          </a:xfrm>
          <a:prstGeom prst="roundRect">
            <a:avLst>
              <a:gd name="adj" fmla="val 15000"/>
            </a:avLst>
          </a:prstGeom>
          <a:solidFill>
            <a:srgbClr val="4F46E5">
              <a:alpha val="75000"/>
            </a:srgbClr>
          </a:solidFill>
          <a:ln w="12700">
            <a:solidFill>
              <a:srgbClr val="4F46E5">
                <a:alpha val="75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126480" y="117043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PROJECT_MASTER.md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236208" y="158191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ROADMAP.md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345936" y="199339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ARCHITECTURE.md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6455664" y="240487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agents/  templates/  slides/  docs/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384048" y="3611880"/>
            <a:ext cx="2578608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48640" y="3813048"/>
            <a:ext cx="384048" cy="384048"/>
          </a:xfrm>
          <a:prstGeom prst="ellipse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450" y="3889858"/>
            <a:ext cx="230429" cy="230429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1042416" y="3813048"/>
            <a:ext cx="1801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Single Source of Truth</a:t>
            </a:r>
            <a:endParaRPr lang="en-US" sz="1150" dirty="0"/>
          </a:p>
        </p:txBody>
      </p:sp>
      <p:sp>
        <p:nvSpPr>
          <p:cNvPr id="24" name="Text 20"/>
          <p:cNvSpPr/>
          <p:nvPr/>
        </p:nvSpPr>
        <p:spPr>
          <a:xfrm>
            <a:off x="548640" y="4297680"/>
            <a:ext cx="23042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One file governs every downstream artifact.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3118104" y="3611880"/>
            <a:ext cx="2578608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3282696" y="3813048"/>
            <a:ext cx="384048" cy="384048"/>
          </a:xfrm>
          <a:prstGeom prst="ellipse">
            <a:avLst/>
          </a:prstGeom>
          <a:solidFill>
            <a:srgbClr val="F0FDFA"/>
          </a:solidFill>
          <a:ln w="12700">
            <a:solidFill>
              <a:srgbClr val="F0FDFA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9506" y="3889858"/>
            <a:ext cx="230429" cy="230429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3776472" y="3813048"/>
            <a:ext cx="1801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Agent-Driven</a:t>
            </a:r>
            <a:endParaRPr lang="en-US" sz="1150" dirty="0"/>
          </a:p>
        </p:txBody>
      </p:sp>
      <p:sp>
        <p:nvSpPr>
          <p:cNvPr id="29" name="Text 24"/>
          <p:cNvSpPr/>
          <p:nvPr/>
        </p:nvSpPr>
        <p:spPr>
          <a:xfrm>
            <a:off x="3282696" y="4297680"/>
            <a:ext cx="23042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Documentation, showcase, portfolio, social — automated.</a:t>
            </a:r>
            <a:endParaRPr lang="en-US" sz="1000" dirty="0"/>
          </a:p>
        </p:txBody>
      </p:sp>
      <p:sp>
        <p:nvSpPr>
          <p:cNvPr id="30" name="Shape 25"/>
          <p:cNvSpPr/>
          <p:nvPr/>
        </p:nvSpPr>
        <p:spPr>
          <a:xfrm>
            <a:off x="5852160" y="3611880"/>
            <a:ext cx="2578608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6016752" y="3813048"/>
            <a:ext cx="384048" cy="384048"/>
          </a:xfrm>
          <a:prstGeom prst="ellipse">
            <a:avLst/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3562" y="3889858"/>
            <a:ext cx="230429" cy="230429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6510528" y="3813048"/>
            <a:ext cx="1801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Reusable Across Projects</a:t>
            </a:r>
            <a:endParaRPr lang="en-US" sz="1150" dirty="0"/>
          </a:p>
        </p:txBody>
      </p:sp>
      <p:sp>
        <p:nvSpPr>
          <p:cNvPr id="34" name="Text 28"/>
          <p:cNvSpPr/>
          <p:nvPr/>
        </p:nvSpPr>
        <p:spPr>
          <a:xfrm>
            <a:off x="6016752" y="4297680"/>
            <a:ext cx="23042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Every new project ships with the same operating discipline.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82880"/>
            <a:ext cx="347472" cy="347472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228600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41248" y="201168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Problem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84048" y="57607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Solo AI builders drift. Projects fragment. Decks, docs and portfolio pages diverge from reality.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84048" y="914400"/>
            <a:ext cx="257860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399032" y="1115568"/>
            <a:ext cx="548640" cy="548640"/>
          </a:xfrm>
          <a:prstGeom prst="ellipse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1225296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84048" y="1828800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Fragmented Projects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93776" y="2176272"/>
            <a:ext cx="2359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Each project reinvents its own folder layout, naming and cadence.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118104" y="914400"/>
            <a:ext cx="257860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133088" y="1115568"/>
            <a:ext cx="548640" cy="548640"/>
          </a:xfrm>
          <a:prstGeom prst="ellipse">
            <a:avLst/>
          </a:prstGeom>
          <a:solidFill>
            <a:srgbClr val="F0FDFA"/>
          </a:solidFill>
          <a:ln w="12700">
            <a:solidFill>
              <a:srgbClr val="F0FDFA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816" y="1225296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118104" y="1828800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Drift From Reality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227832" y="2176272"/>
            <a:ext cx="2359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Slides, READMEs and portfolio pages slowly stop matching the code.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5852160" y="914400"/>
            <a:ext cx="257860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867144" y="1115568"/>
            <a:ext cx="548640" cy="548640"/>
          </a:xfrm>
          <a:prstGeom prst="ellipse">
            <a:avLst/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6872" y="1225296"/>
            <a:ext cx="329184" cy="32918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852160" y="1828800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Shared Cadence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5961888" y="2176272"/>
            <a:ext cx="2359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Updates happen ad-hoc; weekly and milestone rituals never form.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384048" y="3246120"/>
            <a:ext cx="8375904" cy="1508760"/>
          </a:xfrm>
          <a:prstGeom prst="roundRect">
            <a:avLst>
              <a:gd name="adj" fmla="val 4848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3584448"/>
            <a:ext cx="384048" cy="38404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042416" y="33375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Result: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1042416" y="3639312"/>
            <a:ext cx="7223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Every project starts from scratch, every showcase feels improvised, and nothing compounds across the studio's body of work.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82880"/>
            <a:ext cx="347472" cy="347472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228600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41248" y="201168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Solution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84048" y="57607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reusable, agent-driven repo template so every project ships with consistent docs, decks, and portfolio.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84048" y="914400"/>
            <a:ext cx="2578608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21208" y="1078992"/>
            <a:ext cx="411480" cy="274320"/>
          </a:xfrm>
          <a:prstGeom prst="roundRect">
            <a:avLst>
              <a:gd name="adj" fmla="val 26667"/>
            </a:avLst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1088136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376172" y="1508760"/>
            <a:ext cx="594360" cy="594360"/>
          </a:xfrm>
          <a:prstGeom prst="ellipse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5044" y="1627632"/>
            <a:ext cx="356616" cy="35661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84048" y="2267712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Start From SSOT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93776" y="2596896"/>
            <a:ext cx="2359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New project inherits PROJECT_MASTER.md and a vetted folder scaffold.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118104" y="914400"/>
            <a:ext cx="2578608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55264" y="1078992"/>
            <a:ext cx="411480" cy="274320"/>
          </a:xfrm>
          <a:prstGeom prst="roundRect">
            <a:avLst>
              <a:gd name="adj" fmla="val 26667"/>
            </a:avLst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55264" y="1088136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110228" y="1508760"/>
            <a:ext cx="594360" cy="594360"/>
          </a:xfrm>
          <a:prstGeom prst="ellipse">
            <a:avLst/>
          </a:prstGeom>
          <a:solidFill>
            <a:srgbClr val="F0FDFA"/>
          </a:solidFill>
          <a:ln w="12700">
            <a:solidFill>
              <a:srgbClr val="F0FDFA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9100" y="1627632"/>
            <a:ext cx="356616" cy="35661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118104" y="2267712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Run The Agents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3227832" y="2596896"/>
            <a:ext cx="2359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Four agents keep docs, slides, portfolio and social in lockstep with reality.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5852160" y="914400"/>
            <a:ext cx="2578608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5989320" y="1078992"/>
            <a:ext cx="411480" cy="274320"/>
          </a:xfrm>
          <a:prstGeom prst="roundRect">
            <a:avLst>
              <a:gd name="adj" fmla="val 26667"/>
            </a:avLst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989320" y="1088136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6844284" y="1508760"/>
            <a:ext cx="594360" cy="594360"/>
          </a:xfrm>
          <a:prstGeom prst="ellipse">
            <a:avLst/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3156" y="1627632"/>
            <a:ext cx="356616" cy="356616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5852160" y="2267712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Ship Consistently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5961888" y="2596896"/>
            <a:ext cx="2359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Every project produces the same shaped showcase, portfolio page and update cadence.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384048" y="3566160"/>
            <a:ext cx="8375904" cy="1207008"/>
          </a:xfrm>
          <a:prstGeom prst="roundRect">
            <a:avLst>
              <a:gd name="adj" fmla="val 6061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749040"/>
            <a:ext cx="411480" cy="41148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115568" y="36301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Outcome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1115568" y="393192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Faster project setup.  Documentation that stays true.  A studio body of work that visibly compounds.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82880"/>
            <a:ext cx="347472" cy="347472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228600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41248" y="201168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Core Principle — SSOT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84048" y="57607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PROJECT_MASTER.md is the single source of truth. Everything else traces back to it.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703320" y="1097280"/>
            <a:ext cx="1737360" cy="914400"/>
          </a:xfrm>
          <a:prstGeom prst="roundRect">
            <a:avLst>
              <a:gd name="adj" fmla="val 10000"/>
            </a:avLst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3400" y="1207008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703320" y="170078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PROJECT_MASTER.md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84048" y="2423160"/>
            <a:ext cx="26517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48640" y="2606040"/>
            <a:ext cx="457200" cy="457200"/>
          </a:xfrm>
          <a:prstGeom prst="ellipse">
            <a:avLst/>
          </a:prstGeom>
          <a:solidFill>
            <a:srgbClr val="F0FDFA"/>
          </a:solidFill>
          <a:ln w="12700">
            <a:solidFill>
              <a:srgbClr val="F0FDFA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69748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33856" y="260604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ROADMAP.md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548640" y="308152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Sprint plan and milestones.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3246120" y="2423160"/>
            <a:ext cx="26517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410712" y="2606040"/>
            <a:ext cx="457200" cy="457200"/>
          </a:xfrm>
          <a:prstGeom prst="ellipse">
            <a:avLst/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2152" y="269748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995928" y="260604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ARCHITECTURE.md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3410712" y="308152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ADRs and rationale.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6108192" y="2423160"/>
            <a:ext cx="26517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272784" y="2606040"/>
            <a:ext cx="457200" cy="457200"/>
          </a:xfrm>
          <a:prstGeom prst="ellipse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4224" y="2697480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858000" y="260604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CHANGELOG.md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6272784" y="308152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Dated milestone history.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384048" y="3703320"/>
            <a:ext cx="26517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548640" y="3886200"/>
            <a:ext cx="457200" cy="457200"/>
          </a:xfrm>
          <a:prstGeom prst="ellipse">
            <a:avLst/>
          </a:prstGeom>
          <a:solidFill>
            <a:srgbClr val="F0FDFA"/>
          </a:solidFill>
          <a:ln w="12700">
            <a:solidFill>
              <a:srgbClr val="F0FDFA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977640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133856" y="388620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slides/</a:t>
            </a:r>
            <a:endParaRPr lang="en-US" sz="1150" dirty="0"/>
          </a:p>
        </p:txBody>
      </p:sp>
      <p:sp>
        <p:nvSpPr>
          <p:cNvPr id="28" name="Text 21"/>
          <p:cNvSpPr/>
          <p:nvPr/>
        </p:nvSpPr>
        <p:spPr>
          <a:xfrm>
            <a:off x="548640" y="436168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Showcase decks.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3246120" y="3703320"/>
            <a:ext cx="26517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3410712" y="3886200"/>
            <a:ext cx="457200" cy="457200"/>
          </a:xfrm>
          <a:prstGeom prst="ellipse">
            <a:avLst/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02152" y="3977640"/>
            <a:ext cx="274320" cy="27432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995928" y="388620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portfolio</a:t>
            </a:r>
            <a:endParaRPr lang="en-US" sz="1150" dirty="0"/>
          </a:p>
        </p:txBody>
      </p:sp>
      <p:sp>
        <p:nvSpPr>
          <p:cNvPr id="33" name="Text 25"/>
          <p:cNvSpPr/>
          <p:nvPr/>
        </p:nvSpPr>
        <p:spPr>
          <a:xfrm>
            <a:off x="3410712" y="436168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Notion project pages.</a:t>
            </a:r>
            <a:endParaRPr lang="en-US" sz="1000" dirty="0"/>
          </a:p>
        </p:txBody>
      </p:sp>
      <p:sp>
        <p:nvSpPr>
          <p:cNvPr id="34" name="Shape 26"/>
          <p:cNvSpPr/>
          <p:nvPr/>
        </p:nvSpPr>
        <p:spPr>
          <a:xfrm>
            <a:off x="6108192" y="3703320"/>
            <a:ext cx="26517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6272784" y="3886200"/>
            <a:ext cx="457200" cy="457200"/>
          </a:xfrm>
          <a:prstGeom prst="ellipse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64224" y="3977640"/>
            <a:ext cx="274320" cy="27432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858000" y="388620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social</a:t>
            </a:r>
            <a:endParaRPr lang="en-US" sz="1150" dirty="0"/>
          </a:p>
        </p:txBody>
      </p:sp>
      <p:sp>
        <p:nvSpPr>
          <p:cNvPr id="38" name="Text 29"/>
          <p:cNvSpPr/>
          <p:nvPr/>
        </p:nvSpPr>
        <p:spPr>
          <a:xfrm>
            <a:off x="6272784" y="436168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Distribution content.</a:t>
            </a:r>
            <a:endParaRPr lang="en-US" sz="1000" dirty="0"/>
          </a:p>
        </p:txBody>
      </p:sp>
      <p:sp>
        <p:nvSpPr>
          <p:cNvPr id="39" name="Shape 30"/>
          <p:cNvSpPr/>
          <p:nvPr/>
        </p:nvSpPr>
        <p:spPr>
          <a:xfrm>
            <a:off x="2194560" y="2121408"/>
            <a:ext cx="4754880" cy="27432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1"/>
          <p:cNvSpPr/>
          <p:nvPr/>
        </p:nvSpPr>
        <p:spPr>
          <a:xfrm>
            <a:off x="2194560" y="212140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F6B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Update SSOT first. No downstream file may contradict it.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82880"/>
            <a:ext cx="347472" cy="347472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228600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41248" y="201168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Agent Roster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84048" y="57607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Four specialised agents keep every downstream artifact aligned with the SSOT.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84048" y="896112"/>
            <a:ext cx="41148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170432"/>
            <a:ext cx="640080" cy="640080"/>
          </a:xfrm>
          <a:prstGeom prst="ellipse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1298448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44168" y="128016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Documentation Agent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66928" y="1975104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Maintains PROJECT_MASTER, ROADMAP, ARCHITECTURE and CHANGELOG.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754880" y="896112"/>
            <a:ext cx="41148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937760" y="1170432"/>
            <a:ext cx="640080" cy="640080"/>
          </a:xfrm>
          <a:prstGeom prst="ellipse">
            <a:avLst/>
          </a:prstGeom>
          <a:solidFill>
            <a:srgbClr val="F0FDFA"/>
          </a:solidFill>
          <a:ln w="12700">
            <a:solidFill>
              <a:srgbClr val="F0FDFA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5776" y="1298448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715000" y="128016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Showcase Agent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937760" y="1975104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Generates and refreshes showcase decks from project state.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384048" y="2926080"/>
            <a:ext cx="41148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66928" y="3200400"/>
            <a:ext cx="640080" cy="640080"/>
          </a:xfrm>
          <a:prstGeom prst="ellipse">
            <a:avLst/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3328416"/>
            <a:ext cx="384048" cy="38404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344168" y="331012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Portfolio Agent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566928" y="4005072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Keeps Notion portfolio pages aligned with project reality.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4754880" y="2926080"/>
            <a:ext cx="41148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937760" y="3200400"/>
            <a:ext cx="640080" cy="640080"/>
          </a:xfrm>
          <a:prstGeom prst="ellipse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5776" y="3328416"/>
            <a:ext cx="384048" cy="38404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715000" y="331012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Social Media Agent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4937760" y="4005072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Drafts platform-ready posts from milestones and releases.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82880"/>
            <a:ext cx="347472" cy="347472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228600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41248" y="201168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Repo Anatomy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84048" y="57607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Everything a studio project needs, organised so updates are obvious.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84048" y="914400"/>
            <a:ext cx="199339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106424" y="1097280"/>
            <a:ext cx="548640" cy="548640"/>
          </a:xfrm>
          <a:prstGeom prst="ellipse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6152" y="1207008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84048" y="1773936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PROJECT_MASTER.md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57200" y="2066544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SSOT — strategy, scope, state.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505456" y="914400"/>
            <a:ext cx="199339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27832" y="1097280"/>
            <a:ext cx="548640" cy="548640"/>
          </a:xfrm>
          <a:prstGeom prst="ellipse">
            <a:avLst/>
          </a:prstGeom>
          <a:solidFill>
            <a:srgbClr val="F0FDFA"/>
          </a:solidFill>
          <a:ln w="12700">
            <a:solidFill>
              <a:srgbClr val="F0FDFA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1207008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505456" y="1773936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ROADMAP.md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2578608" y="2066544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Milestones and sprint plan.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4626864" y="914400"/>
            <a:ext cx="199339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349240" y="1097280"/>
            <a:ext cx="548640" cy="548640"/>
          </a:xfrm>
          <a:prstGeom prst="ellipse">
            <a:avLst/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8968" y="1207008"/>
            <a:ext cx="329184" cy="32918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626864" y="1773936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ARCHITECTURE.md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4700016" y="2066544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Decisions and rationale.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6748272" y="914400"/>
            <a:ext cx="199339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7470648" y="1097280"/>
            <a:ext cx="548640" cy="548640"/>
          </a:xfrm>
          <a:prstGeom prst="ellipse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0376" y="1207008"/>
            <a:ext cx="329184" cy="32918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748272" y="1773936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CHANGELOG.md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6821424" y="2066544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Dated milestone history.</a:t>
            </a:r>
            <a:endParaRPr lang="en-US" sz="950" dirty="0"/>
          </a:p>
        </p:txBody>
      </p:sp>
      <p:sp>
        <p:nvSpPr>
          <p:cNvPr id="26" name="Shape 20"/>
          <p:cNvSpPr/>
          <p:nvPr/>
        </p:nvSpPr>
        <p:spPr>
          <a:xfrm>
            <a:off x="384048" y="2770632"/>
            <a:ext cx="199339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1106424" y="2953512"/>
            <a:ext cx="548640" cy="548640"/>
          </a:xfrm>
          <a:prstGeom prst="ellipse">
            <a:avLst/>
          </a:prstGeom>
          <a:solidFill>
            <a:srgbClr val="F0FDFA"/>
          </a:solidFill>
          <a:ln w="12700">
            <a:solidFill>
              <a:srgbClr val="F0FDFA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6152" y="3063240"/>
            <a:ext cx="329184" cy="329184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384048" y="3630168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agents/</a:t>
            </a:r>
            <a:endParaRPr lang="en-US" sz="1150" dirty="0"/>
          </a:p>
        </p:txBody>
      </p:sp>
      <p:sp>
        <p:nvSpPr>
          <p:cNvPr id="30" name="Text 23"/>
          <p:cNvSpPr/>
          <p:nvPr/>
        </p:nvSpPr>
        <p:spPr>
          <a:xfrm>
            <a:off x="457200" y="3922776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Four role definitions.</a:t>
            </a:r>
            <a:endParaRPr lang="en-US" sz="950" dirty="0"/>
          </a:p>
        </p:txBody>
      </p:sp>
      <p:sp>
        <p:nvSpPr>
          <p:cNvPr id="31" name="Shape 24"/>
          <p:cNvSpPr/>
          <p:nvPr/>
        </p:nvSpPr>
        <p:spPr>
          <a:xfrm>
            <a:off x="2505456" y="2770632"/>
            <a:ext cx="199339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3227832" y="2953512"/>
            <a:ext cx="548640" cy="548640"/>
          </a:xfrm>
          <a:prstGeom prst="ellipse">
            <a:avLst/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37560" y="3063240"/>
            <a:ext cx="329184" cy="329184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2505456" y="3630168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templates/</a:t>
            </a:r>
            <a:endParaRPr lang="en-US" sz="1150" dirty="0"/>
          </a:p>
        </p:txBody>
      </p:sp>
      <p:sp>
        <p:nvSpPr>
          <p:cNvPr id="35" name="Text 27"/>
          <p:cNvSpPr/>
          <p:nvPr/>
        </p:nvSpPr>
        <p:spPr>
          <a:xfrm>
            <a:off x="2578608" y="3922776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Reusable scaffolds.</a:t>
            </a:r>
            <a:endParaRPr lang="en-US" sz="950" dirty="0"/>
          </a:p>
        </p:txBody>
      </p:sp>
      <p:sp>
        <p:nvSpPr>
          <p:cNvPr id="36" name="Shape 28"/>
          <p:cNvSpPr/>
          <p:nvPr/>
        </p:nvSpPr>
        <p:spPr>
          <a:xfrm>
            <a:off x="4626864" y="2770632"/>
            <a:ext cx="199339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5349240" y="2953512"/>
            <a:ext cx="548640" cy="548640"/>
          </a:xfrm>
          <a:prstGeom prst="ellipse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58968" y="3063240"/>
            <a:ext cx="329184" cy="329184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4626864" y="3630168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slides/</a:t>
            </a:r>
            <a:endParaRPr lang="en-US" sz="1150" dirty="0"/>
          </a:p>
        </p:txBody>
      </p:sp>
      <p:sp>
        <p:nvSpPr>
          <p:cNvPr id="40" name="Text 31"/>
          <p:cNvSpPr/>
          <p:nvPr/>
        </p:nvSpPr>
        <p:spPr>
          <a:xfrm>
            <a:off x="4700016" y="3922776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Showcase deck sources.</a:t>
            </a:r>
            <a:endParaRPr lang="en-US" sz="950" dirty="0"/>
          </a:p>
        </p:txBody>
      </p:sp>
      <p:sp>
        <p:nvSpPr>
          <p:cNvPr id="41" name="Shape 32"/>
          <p:cNvSpPr/>
          <p:nvPr/>
        </p:nvSpPr>
        <p:spPr>
          <a:xfrm>
            <a:off x="6748272" y="2770632"/>
            <a:ext cx="199339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42" name="Shape 33"/>
          <p:cNvSpPr/>
          <p:nvPr/>
        </p:nvSpPr>
        <p:spPr>
          <a:xfrm>
            <a:off x="7470648" y="2953512"/>
            <a:ext cx="548640" cy="548640"/>
          </a:xfrm>
          <a:prstGeom prst="ellipse">
            <a:avLst/>
          </a:prstGeom>
          <a:solidFill>
            <a:srgbClr val="F0FDFA"/>
          </a:solidFill>
          <a:ln w="12700">
            <a:solidFill>
              <a:srgbClr val="F0FDFA"/>
            </a:solidFill>
            <a:prstDash val="solid"/>
          </a:ln>
        </p:spPr>
      </p:sp>
      <p:pic>
        <p:nvPicPr>
          <p:cNvPr id="4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80376" y="3063240"/>
            <a:ext cx="329184" cy="329184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6748272" y="3630168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docs/</a:t>
            </a:r>
            <a:endParaRPr lang="en-US" sz="1150" dirty="0"/>
          </a:p>
        </p:txBody>
      </p:sp>
      <p:sp>
        <p:nvSpPr>
          <p:cNvPr id="45" name="Text 35"/>
          <p:cNvSpPr/>
          <p:nvPr/>
        </p:nvSpPr>
        <p:spPr>
          <a:xfrm>
            <a:off x="6821424" y="3922776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Project documentation.</a:t>
            </a:r>
            <a:endParaRPr lang="en-US" sz="950" dirty="0"/>
          </a:p>
        </p:txBody>
      </p:sp>
      <p:sp>
        <p:nvSpPr>
          <p:cNvPr id="46" name="Text 36"/>
          <p:cNvSpPr/>
          <p:nvPr/>
        </p:nvSpPr>
        <p:spPr>
          <a:xfrm>
            <a:off x="384048" y="4645152"/>
            <a:ext cx="8375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Plus .github/workflows/ for CI checks and assets/ for shared media.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82880"/>
            <a:ext cx="347472" cy="347472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228600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41248" y="201168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Project Lifecycle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84048" y="57607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Init through distribution — the same disciplined flow on every project.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84048" y="932688"/>
            <a:ext cx="1298448" cy="242316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93776" y="1042416"/>
            <a:ext cx="384048" cy="237744"/>
          </a:xfrm>
          <a:prstGeom prst="roundRect">
            <a:avLst>
              <a:gd name="adj" fmla="val 26923"/>
            </a:avLst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" y="1051560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04672" y="1408176"/>
            <a:ext cx="457200" cy="457200"/>
          </a:xfrm>
          <a:prstGeom prst="ellipse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499616"/>
            <a:ext cx="274320" cy="2743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84048" y="1956816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Init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38912" y="2249424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Clone template, rename, set identity.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1691640" y="2125980"/>
            <a:ext cx="73152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773936" y="932688"/>
            <a:ext cx="1298448" cy="242316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1883664" y="1042416"/>
            <a:ext cx="384048" cy="237744"/>
          </a:xfrm>
          <a:prstGeom prst="roundRect">
            <a:avLst>
              <a:gd name="adj" fmla="val 26923"/>
            </a:avLst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883664" y="1051560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2194560" y="1408176"/>
            <a:ext cx="457200" cy="457200"/>
          </a:xfrm>
          <a:prstGeom prst="ellipse">
            <a:avLst/>
          </a:prstGeom>
          <a:solidFill>
            <a:srgbClr val="F0FDFA"/>
          </a:solidFill>
          <a:ln w="12700">
            <a:solidFill>
              <a:srgbClr val="F0FDFA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99616"/>
            <a:ext cx="274320" cy="27432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773936" y="1956816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SSOT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1828800" y="2249424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Fill PROJECT_MASTER.md.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3081528" y="2125980"/>
            <a:ext cx="73152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3163824" y="932688"/>
            <a:ext cx="1298448" cy="242316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3273552" y="1042416"/>
            <a:ext cx="384048" cy="237744"/>
          </a:xfrm>
          <a:prstGeom prst="roundRect">
            <a:avLst>
              <a:gd name="adj" fmla="val 26923"/>
            </a:avLst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3273552" y="1051560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3584448" y="1408176"/>
            <a:ext cx="457200" cy="457200"/>
          </a:xfrm>
          <a:prstGeom prst="ellipse">
            <a:avLst/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5888" y="1499616"/>
            <a:ext cx="274320" cy="27432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3163824" y="1956816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Docs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3218688" y="2249424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Roadmap, architecture, changelog.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4471416" y="2125980"/>
            <a:ext cx="73152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4553712" y="932688"/>
            <a:ext cx="1298448" cy="242316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4663440" y="1042416"/>
            <a:ext cx="384048" cy="237744"/>
          </a:xfrm>
          <a:prstGeom prst="roundRect">
            <a:avLst>
              <a:gd name="adj" fmla="val 26923"/>
            </a:avLst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4663440" y="1051560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1000" dirty="0"/>
          </a:p>
        </p:txBody>
      </p:sp>
      <p:sp>
        <p:nvSpPr>
          <p:cNvPr id="33" name="Shape 28"/>
          <p:cNvSpPr/>
          <p:nvPr/>
        </p:nvSpPr>
        <p:spPr>
          <a:xfrm>
            <a:off x="4974336" y="1408176"/>
            <a:ext cx="457200" cy="457200"/>
          </a:xfrm>
          <a:prstGeom prst="ellipse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5776" y="1499616"/>
            <a:ext cx="274320" cy="274320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4553712" y="1956816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Showcase</a:t>
            </a:r>
            <a:endParaRPr lang="en-US" sz="1200" dirty="0"/>
          </a:p>
        </p:txBody>
      </p:sp>
      <p:sp>
        <p:nvSpPr>
          <p:cNvPr id="36" name="Text 30"/>
          <p:cNvSpPr/>
          <p:nvPr/>
        </p:nvSpPr>
        <p:spPr>
          <a:xfrm>
            <a:off x="4608576" y="2249424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Generate the deck from state.</a:t>
            </a:r>
            <a:endParaRPr lang="en-US" sz="900" dirty="0"/>
          </a:p>
        </p:txBody>
      </p:sp>
      <p:sp>
        <p:nvSpPr>
          <p:cNvPr id="37" name="Shape 31"/>
          <p:cNvSpPr/>
          <p:nvPr/>
        </p:nvSpPr>
        <p:spPr>
          <a:xfrm>
            <a:off x="5861304" y="2125980"/>
            <a:ext cx="73152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8" name="Shape 32"/>
          <p:cNvSpPr/>
          <p:nvPr/>
        </p:nvSpPr>
        <p:spPr>
          <a:xfrm>
            <a:off x="5943600" y="932688"/>
            <a:ext cx="1298448" cy="242316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39" name="Shape 33"/>
          <p:cNvSpPr/>
          <p:nvPr/>
        </p:nvSpPr>
        <p:spPr>
          <a:xfrm>
            <a:off x="6053328" y="1042416"/>
            <a:ext cx="384048" cy="237744"/>
          </a:xfrm>
          <a:prstGeom prst="roundRect">
            <a:avLst>
              <a:gd name="adj" fmla="val 26923"/>
            </a:avLst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6053328" y="1051560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1000" dirty="0"/>
          </a:p>
        </p:txBody>
      </p:sp>
      <p:sp>
        <p:nvSpPr>
          <p:cNvPr id="41" name="Shape 35"/>
          <p:cNvSpPr/>
          <p:nvPr/>
        </p:nvSpPr>
        <p:spPr>
          <a:xfrm>
            <a:off x="6364224" y="1408176"/>
            <a:ext cx="457200" cy="457200"/>
          </a:xfrm>
          <a:prstGeom prst="ellipse">
            <a:avLst/>
          </a:prstGeom>
          <a:solidFill>
            <a:srgbClr val="F0FDFA"/>
          </a:solidFill>
          <a:ln w="12700">
            <a:solidFill>
              <a:srgbClr val="F0FDFA"/>
            </a:solidFill>
            <a:prstDash val="solid"/>
          </a:ln>
        </p:spPr>
      </p:sp>
      <p:pic>
        <p:nvPicPr>
          <p:cNvPr id="4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5664" y="1499616"/>
            <a:ext cx="274320" cy="274320"/>
          </a:xfrm>
          <a:prstGeom prst="rect">
            <a:avLst/>
          </a:prstGeom>
        </p:spPr>
      </p:pic>
      <p:sp>
        <p:nvSpPr>
          <p:cNvPr id="43" name="Text 36"/>
          <p:cNvSpPr/>
          <p:nvPr/>
        </p:nvSpPr>
        <p:spPr>
          <a:xfrm>
            <a:off x="5943600" y="1956816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Portfolio</a:t>
            </a:r>
            <a:endParaRPr lang="en-US" sz="1200" dirty="0"/>
          </a:p>
        </p:txBody>
      </p:sp>
      <p:sp>
        <p:nvSpPr>
          <p:cNvPr id="44" name="Text 37"/>
          <p:cNvSpPr/>
          <p:nvPr/>
        </p:nvSpPr>
        <p:spPr>
          <a:xfrm>
            <a:off x="5998464" y="2249424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Publish Notion page.</a:t>
            </a:r>
            <a:endParaRPr lang="en-US" sz="900" dirty="0"/>
          </a:p>
        </p:txBody>
      </p:sp>
      <p:sp>
        <p:nvSpPr>
          <p:cNvPr id="45" name="Shape 38"/>
          <p:cNvSpPr/>
          <p:nvPr/>
        </p:nvSpPr>
        <p:spPr>
          <a:xfrm>
            <a:off x="7251192" y="2125980"/>
            <a:ext cx="73152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6" name="Shape 39"/>
          <p:cNvSpPr/>
          <p:nvPr/>
        </p:nvSpPr>
        <p:spPr>
          <a:xfrm>
            <a:off x="7333488" y="932688"/>
            <a:ext cx="1298448" cy="242316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47" name="Shape 40"/>
          <p:cNvSpPr/>
          <p:nvPr/>
        </p:nvSpPr>
        <p:spPr>
          <a:xfrm>
            <a:off x="7443216" y="1042416"/>
            <a:ext cx="384048" cy="237744"/>
          </a:xfrm>
          <a:prstGeom prst="roundRect">
            <a:avLst>
              <a:gd name="adj" fmla="val 26923"/>
            </a:avLst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48" name="Text 41"/>
          <p:cNvSpPr/>
          <p:nvPr/>
        </p:nvSpPr>
        <p:spPr>
          <a:xfrm>
            <a:off x="7443216" y="1051560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endParaRPr lang="en-US" sz="1000" dirty="0"/>
          </a:p>
        </p:txBody>
      </p:sp>
      <p:sp>
        <p:nvSpPr>
          <p:cNvPr id="49" name="Shape 42"/>
          <p:cNvSpPr/>
          <p:nvPr/>
        </p:nvSpPr>
        <p:spPr>
          <a:xfrm>
            <a:off x="7754112" y="1408176"/>
            <a:ext cx="457200" cy="457200"/>
          </a:xfrm>
          <a:prstGeom prst="ellipse">
            <a:avLst/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pic>
        <p:nvPicPr>
          <p:cNvPr id="5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45552" y="1499616"/>
            <a:ext cx="274320" cy="274320"/>
          </a:xfrm>
          <a:prstGeom prst="rect">
            <a:avLst/>
          </a:prstGeom>
        </p:spPr>
      </p:pic>
      <p:sp>
        <p:nvSpPr>
          <p:cNvPr id="51" name="Text 43"/>
          <p:cNvSpPr/>
          <p:nvPr/>
        </p:nvSpPr>
        <p:spPr>
          <a:xfrm>
            <a:off x="7333488" y="1956816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Social</a:t>
            </a:r>
            <a:endParaRPr lang="en-US" sz="1200" dirty="0"/>
          </a:p>
        </p:txBody>
      </p:sp>
      <p:sp>
        <p:nvSpPr>
          <p:cNvPr id="52" name="Text 44"/>
          <p:cNvSpPr/>
          <p:nvPr/>
        </p:nvSpPr>
        <p:spPr>
          <a:xfrm>
            <a:off x="7388352" y="2249424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Distribute milestone posts.</a:t>
            </a:r>
            <a:endParaRPr lang="en-US" sz="900" dirty="0"/>
          </a:p>
        </p:txBody>
      </p:sp>
      <p:sp>
        <p:nvSpPr>
          <p:cNvPr id="53" name="Shape 45"/>
          <p:cNvSpPr/>
          <p:nvPr/>
        </p:nvSpPr>
        <p:spPr>
          <a:xfrm>
            <a:off x="384048" y="3611880"/>
            <a:ext cx="2706624" cy="731520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Text 46"/>
          <p:cNvSpPr/>
          <p:nvPr/>
        </p:nvSpPr>
        <p:spPr>
          <a:xfrm>
            <a:off x="493776" y="3703320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F6B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Weekly</a:t>
            </a:r>
            <a:endParaRPr lang="en-US" sz="1100" dirty="0"/>
          </a:p>
        </p:txBody>
      </p:sp>
      <p:sp>
        <p:nvSpPr>
          <p:cNvPr id="55" name="Text 47"/>
          <p:cNvSpPr/>
          <p:nvPr/>
        </p:nvSpPr>
        <p:spPr>
          <a:xfrm>
            <a:off x="493776" y="3959352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PROJECT_MASTER + ROADMAP + AGENT_LOG</a:t>
            </a:r>
            <a:endParaRPr lang="en-US" sz="950" dirty="0"/>
          </a:p>
        </p:txBody>
      </p:sp>
      <p:sp>
        <p:nvSpPr>
          <p:cNvPr id="56" name="Shape 48"/>
          <p:cNvSpPr/>
          <p:nvPr/>
        </p:nvSpPr>
        <p:spPr>
          <a:xfrm>
            <a:off x="3218688" y="3611880"/>
            <a:ext cx="2706624" cy="731520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7" name="Text 49"/>
          <p:cNvSpPr/>
          <p:nvPr/>
        </p:nvSpPr>
        <p:spPr>
          <a:xfrm>
            <a:off x="3328416" y="3703320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F6B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Milestone</a:t>
            </a:r>
            <a:endParaRPr lang="en-US" sz="1100" dirty="0"/>
          </a:p>
        </p:txBody>
      </p:sp>
      <p:sp>
        <p:nvSpPr>
          <p:cNvPr id="58" name="Text 50"/>
          <p:cNvSpPr/>
          <p:nvPr/>
        </p:nvSpPr>
        <p:spPr>
          <a:xfrm>
            <a:off x="3328416" y="3959352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CHANGELOG + slides + portfolio</a:t>
            </a:r>
            <a:endParaRPr lang="en-US" sz="950" dirty="0"/>
          </a:p>
        </p:txBody>
      </p:sp>
      <p:sp>
        <p:nvSpPr>
          <p:cNvPr id="59" name="Shape 51"/>
          <p:cNvSpPr/>
          <p:nvPr/>
        </p:nvSpPr>
        <p:spPr>
          <a:xfrm>
            <a:off x="6053328" y="3611880"/>
            <a:ext cx="2706624" cy="731520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0" name="Text 52"/>
          <p:cNvSpPr/>
          <p:nvPr/>
        </p:nvSpPr>
        <p:spPr>
          <a:xfrm>
            <a:off x="6163056" y="3703320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F6B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Decision</a:t>
            </a:r>
            <a:endParaRPr lang="en-US" sz="1100" dirty="0"/>
          </a:p>
        </p:txBody>
      </p:sp>
      <p:sp>
        <p:nvSpPr>
          <p:cNvPr id="61" name="Text 53"/>
          <p:cNvSpPr/>
          <p:nvPr/>
        </p:nvSpPr>
        <p:spPr>
          <a:xfrm>
            <a:off x="6163056" y="3959352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ARCHITECTURE.md ADR entry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82880"/>
            <a:ext cx="347472" cy="347472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228600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41248" y="201168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Studio Dashboard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84048" y="57607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single static page that surfaces every studio project at a glance.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84048" y="896112"/>
            <a:ext cx="39776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12064" y="1051560"/>
            <a:ext cx="402336" cy="402336"/>
          </a:xfrm>
          <a:prstGeom prst="ellipse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2531" y="1132027"/>
            <a:ext cx="241402" cy="24140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05840" y="1005840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Live Studio Hub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1005840" y="1261872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One page lists every project.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84048" y="1700784"/>
            <a:ext cx="39776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12064" y="1856232"/>
            <a:ext cx="402336" cy="402336"/>
          </a:xfrm>
          <a:prstGeom prst="ellipse">
            <a:avLst/>
          </a:prstGeom>
          <a:solidFill>
            <a:srgbClr val="F0FDFA"/>
          </a:solidFill>
          <a:ln w="12700">
            <a:solidFill>
              <a:srgbClr val="F0FDFA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31" y="1936699"/>
            <a:ext cx="241402" cy="24140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05840" y="1810512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projects.json Manifest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1005840" y="2066544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Single file drives the page.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384048" y="2505456"/>
            <a:ext cx="39776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12064" y="2660904"/>
            <a:ext cx="402336" cy="402336"/>
          </a:xfrm>
          <a:prstGeom prst="ellipse">
            <a:avLst/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531" y="2741371"/>
            <a:ext cx="241402" cy="24140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05840" y="2615184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Studio-Only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1005840" y="2871216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Excluded from inheritance.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384048" y="3310128"/>
            <a:ext cx="39776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512064" y="3465576"/>
            <a:ext cx="402336" cy="402336"/>
          </a:xfrm>
          <a:prstGeom prst="ellipse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531" y="3546043"/>
            <a:ext cx="241402" cy="24140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005840" y="3419856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GitHub Pages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1005840" y="3675888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jonathanmccrimmond.github.io/ai-systems-studio/</a:t>
            </a:r>
            <a:endParaRPr lang="en-US" sz="950" dirty="0"/>
          </a:p>
        </p:txBody>
      </p:sp>
      <p:sp>
        <p:nvSpPr>
          <p:cNvPr id="26" name="Shape 20"/>
          <p:cNvSpPr/>
          <p:nvPr/>
        </p:nvSpPr>
        <p:spPr>
          <a:xfrm>
            <a:off x="384048" y="4114800"/>
            <a:ext cx="39776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512064" y="4270248"/>
            <a:ext cx="402336" cy="402336"/>
          </a:xfrm>
          <a:prstGeom prst="ellipse">
            <a:avLst/>
          </a:prstGeom>
          <a:solidFill>
            <a:srgbClr val="F0FDFA"/>
          </a:solidFill>
          <a:ln w="12700">
            <a:solidFill>
              <a:srgbClr val="F0FDFA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531" y="4350715"/>
            <a:ext cx="241402" cy="241402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005840" y="4224528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Synced With SSOT</a:t>
            </a:r>
            <a:endParaRPr lang="en-US" sz="1150" dirty="0"/>
          </a:p>
        </p:txBody>
      </p:sp>
      <p:sp>
        <p:nvSpPr>
          <p:cNvPr id="30" name="Text 23"/>
          <p:cNvSpPr/>
          <p:nvPr/>
        </p:nvSpPr>
        <p:spPr>
          <a:xfrm>
            <a:off x="1005840" y="448056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Each entry mirrors a PROJECT_MASTER.</a:t>
            </a:r>
            <a:endParaRPr lang="en-US" sz="950" dirty="0"/>
          </a:p>
        </p:txBody>
      </p:sp>
      <p:sp>
        <p:nvSpPr>
          <p:cNvPr id="31" name="Shape 24"/>
          <p:cNvSpPr/>
          <p:nvPr/>
        </p:nvSpPr>
        <p:spPr>
          <a:xfrm>
            <a:off x="4617720" y="868680"/>
            <a:ext cx="4142232" cy="4005072"/>
          </a:xfrm>
          <a:prstGeom prst="roundRect">
            <a:avLst>
              <a:gd name="adj" fmla="val 182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4617720" y="868680"/>
            <a:ext cx="4142232" cy="310896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3" name="Text 26"/>
          <p:cNvSpPr/>
          <p:nvPr/>
        </p:nvSpPr>
        <p:spPr>
          <a:xfrm>
            <a:off x="4727448" y="923544"/>
            <a:ext cx="3922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Systems Studio — Projects</a:t>
            </a:r>
            <a:endParaRPr lang="en-US" sz="850" dirty="0"/>
          </a:p>
        </p:txBody>
      </p:sp>
      <p:sp>
        <p:nvSpPr>
          <p:cNvPr id="34" name="Shape 27"/>
          <p:cNvSpPr/>
          <p:nvPr/>
        </p:nvSpPr>
        <p:spPr>
          <a:xfrm>
            <a:off x="4727448" y="1325880"/>
            <a:ext cx="3922776" cy="804672"/>
          </a:xfrm>
          <a:prstGeom prst="roundRect">
            <a:avLst>
              <a:gd name="adj" fmla="val 6818"/>
            </a:avLst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4837176" y="1472184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5074920" y="139903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CPI Engine</a:t>
            </a:r>
            <a:endParaRPr lang="en-US" sz="1000" dirty="0"/>
          </a:p>
        </p:txBody>
      </p:sp>
      <p:sp>
        <p:nvSpPr>
          <p:cNvPr id="37" name="Shape 30"/>
          <p:cNvSpPr/>
          <p:nvPr/>
        </p:nvSpPr>
        <p:spPr>
          <a:xfrm>
            <a:off x="7754112" y="1417320"/>
            <a:ext cx="822960" cy="219456"/>
          </a:xfrm>
          <a:prstGeom prst="roundRect">
            <a:avLst>
              <a:gd name="adj" fmla="val 50000"/>
            </a:avLst>
          </a:prstGeom>
          <a:solidFill>
            <a:srgbClr val="0D9488">
              <a:alpha val="25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7754112" y="141732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94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Active</a:t>
            </a:r>
            <a:endParaRPr lang="en-US" sz="750" dirty="0"/>
          </a:p>
        </p:txBody>
      </p:sp>
      <p:sp>
        <p:nvSpPr>
          <p:cNvPr id="39" name="Text 32"/>
          <p:cNvSpPr/>
          <p:nvPr/>
        </p:nvSpPr>
        <p:spPr>
          <a:xfrm>
            <a:off x="5074920" y="1655064"/>
            <a:ext cx="35021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Sector-agnostic premises intelligence.</a:t>
            </a:r>
            <a:endParaRPr lang="en-US" sz="850" dirty="0"/>
          </a:p>
        </p:txBody>
      </p:sp>
      <p:sp>
        <p:nvSpPr>
          <p:cNvPr id="40" name="Shape 33"/>
          <p:cNvSpPr/>
          <p:nvPr/>
        </p:nvSpPr>
        <p:spPr>
          <a:xfrm>
            <a:off x="4727448" y="2203704"/>
            <a:ext cx="3922776" cy="804672"/>
          </a:xfrm>
          <a:prstGeom prst="roundRect">
            <a:avLst>
              <a:gd name="adj" fmla="val 6818"/>
            </a:avLst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Shape 34"/>
          <p:cNvSpPr/>
          <p:nvPr/>
        </p:nvSpPr>
        <p:spPr>
          <a:xfrm>
            <a:off x="4837176" y="2350008"/>
            <a:ext cx="164592" cy="164592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42" name="Text 35"/>
          <p:cNvSpPr/>
          <p:nvPr/>
        </p:nvSpPr>
        <p:spPr>
          <a:xfrm>
            <a:off x="5074920" y="227685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Macfire Scout</a:t>
            </a:r>
            <a:endParaRPr lang="en-US" sz="1000" dirty="0"/>
          </a:p>
        </p:txBody>
      </p:sp>
      <p:sp>
        <p:nvSpPr>
          <p:cNvPr id="43" name="Shape 36"/>
          <p:cNvSpPr/>
          <p:nvPr/>
        </p:nvSpPr>
        <p:spPr>
          <a:xfrm>
            <a:off x="7754112" y="2295144"/>
            <a:ext cx="822960" cy="219456"/>
          </a:xfrm>
          <a:prstGeom prst="roundRect">
            <a:avLst>
              <a:gd name="adj" fmla="val 50000"/>
            </a:avLst>
          </a:prstGeom>
          <a:solidFill>
            <a:srgbClr val="2F6BFF">
              <a:alpha val="25000"/>
            </a:srgbClr>
          </a:solidFill>
          <a:ln w="12700">
            <a:solidFill>
              <a:srgbClr val="2F6BFF">
                <a:alpha val="40000"/>
              </a:srgbClr>
            </a:solidFill>
            <a:prstDash val="solid"/>
          </a:ln>
        </p:spPr>
      </p:sp>
      <p:sp>
        <p:nvSpPr>
          <p:cNvPr id="44" name="Text 37"/>
          <p:cNvSpPr/>
          <p:nvPr/>
        </p:nvSpPr>
        <p:spPr>
          <a:xfrm>
            <a:off x="7754112" y="229514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F6B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Active</a:t>
            </a:r>
            <a:endParaRPr lang="en-US" sz="750" dirty="0"/>
          </a:p>
        </p:txBody>
      </p:sp>
      <p:sp>
        <p:nvSpPr>
          <p:cNvPr id="45" name="Text 38"/>
          <p:cNvSpPr/>
          <p:nvPr/>
        </p:nvSpPr>
        <p:spPr>
          <a:xfrm>
            <a:off x="5074920" y="2532888"/>
            <a:ext cx="35021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Fire-safety lead scout for Scotland.</a:t>
            </a:r>
            <a:endParaRPr lang="en-US" sz="850" dirty="0"/>
          </a:p>
        </p:txBody>
      </p:sp>
      <p:sp>
        <p:nvSpPr>
          <p:cNvPr id="46" name="Shape 39"/>
          <p:cNvSpPr/>
          <p:nvPr/>
        </p:nvSpPr>
        <p:spPr>
          <a:xfrm>
            <a:off x="4727448" y="3081528"/>
            <a:ext cx="3922776" cy="804672"/>
          </a:xfrm>
          <a:prstGeom prst="roundRect">
            <a:avLst>
              <a:gd name="adj" fmla="val 6818"/>
            </a:avLst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Shape 40"/>
          <p:cNvSpPr/>
          <p:nvPr/>
        </p:nvSpPr>
        <p:spPr>
          <a:xfrm>
            <a:off x="4837176" y="3227832"/>
            <a:ext cx="164592" cy="1645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8" name="Text 41"/>
          <p:cNvSpPr/>
          <p:nvPr/>
        </p:nvSpPr>
        <p:spPr>
          <a:xfrm>
            <a:off x="5074920" y="315468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Weight Tracker</a:t>
            </a:r>
            <a:endParaRPr lang="en-US" sz="1000" dirty="0"/>
          </a:p>
        </p:txBody>
      </p:sp>
      <p:sp>
        <p:nvSpPr>
          <p:cNvPr id="49" name="Shape 42"/>
          <p:cNvSpPr/>
          <p:nvPr/>
        </p:nvSpPr>
        <p:spPr>
          <a:xfrm>
            <a:off x="7754112" y="3172968"/>
            <a:ext cx="822960" cy="219456"/>
          </a:xfrm>
          <a:prstGeom prst="roundRect">
            <a:avLst>
              <a:gd name="adj" fmla="val 50000"/>
            </a:avLst>
          </a:prstGeom>
          <a:solidFill>
            <a:srgbClr val="7C3AED">
              <a:alpha val="25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50" name="Text 43"/>
          <p:cNvSpPr/>
          <p:nvPr/>
        </p:nvSpPr>
        <p:spPr>
          <a:xfrm>
            <a:off x="7754112" y="317296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7C3A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Planning</a:t>
            </a:r>
            <a:endParaRPr lang="en-US" sz="750" dirty="0"/>
          </a:p>
        </p:txBody>
      </p:sp>
      <p:sp>
        <p:nvSpPr>
          <p:cNvPr id="51" name="Text 44"/>
          <p:cNvSpPr/>
          <p:nvPr/>
        </p:nvSpPr>
        <p:spPr>
          <a:xfrm>
            <a:off x="5074920" y="3410712"/>
            <a:ext cx="35021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WhatsApp-based health tracker.</a:t>
            </a:r>
            <a:endParaRPr lang="en-US" sz="850" dirty="0"/>
          </a:p>
        </p:txBody>
      </p:sp>
      <p:sp>
        <p:nvSpPr>
          <p:cNvPr id="52" name="Shape 45"/>
          <p:cNvSpPr/>
          <p:nvPr/>
        </p:nvSpPr>
        <p:spPr>
          <a:xfrm>
            <a:off x="4727448" y="3959352"/>
            <a:ext cx="3922776" cy="804672"/>
          </a:xfrm>
          <a:prstGeom prst="roundRect">
            <a:avLst>
              <a:gd name="adj" fmla="val 6818"/>
            </a:avLst>
          </a:prstGeom>
          <a:solidFill>
            <a:srgbClr val="F7F9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Shape 46"/>
          <p:cNvSpPr/>
          <p:nvPr/>
        </p:nvSpPr>
        <p:spPr>
          <a:xfrm>
            <a:off x="4837176" y="4105656"/>
            <a:ext cx="164592" cy="164592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4" name="Text 47"/>
          <p:cNvSpPr/>
          <p:nvPr/>
        </p:nvSpPr>
        <p:spPr>
          <a:xfrm>
            <a:off x="5074920" y="403250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Studio Template</a:t>
            </a:r>
            <a:endParaRPr lang="en-US" sz="1000" dirty="0"/>
          </a:p>
        </p:txBody>
      </p:sp>
      <p:sp>
        <p:nvSpPr>
          <p:cNvPr id="55" name="Shape 48"/>
          <p:cNvSpPr/>
          <p:nvPr/>
        </p:nvSpPr>
        <p:spPr>
          <a:xfrm>
            <a:off x="7754112" y="4050792"/>
            <a:ext cx="822960" cy="219456"/>
          </a:xfrm>
          <a:prstGeom prst="roundRect">
            <a:avLst>
              <a:gd name="adj" fmla="val 50000"/>
            </a:avLst>
          </a:prstGeom>
          <a:solidFill>
            <a:srgbClr val="4F46E5">
              <a:alpha val="25000"/>
            </a:srgbClr>
          </a:solidFill>
          <a:ln w="12700">
            <a:solidFill>
              <a:srgbClr val="4F46E5">
                <a:alpha val="40000"/>
              </a:srgbClr>
            </a:solidFill>
            <a:prstDash val="solid"/>
          </a:ln>
        </p:spPr>
      </p:sp>
      <p:sp>
        <p:nvSpPr>
          <p:cNvPr id="56" name="Text 49"/>
          <p:cNvSpPr/>
          <p:nvPr/>
        </p:nvSpPr>
        <p:spPr>
          <a:xfrm>
            <a:off x="7754112" y="405079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F46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Shipped</a:t>
            </a:r>
            <a:endParaRPr lang="en-US" sz="750" dirty="0"/>
          </a:p>
        </p:txBody>
      </p:sp>
      <p:sp>
        <p:nvSpPr>
          <p:cNvPr id="57" name="Text 50"/>
          <p:cNvSpPr/>
          <p:nvPr/>
        </p:nvSpPr>
        <p:spPr>
          <a:xfrm>
            <a:off x="5074920" y="4288536"/>
            <a:ext cx="35021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repo — the studio operating system.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82880"/>
            <a:ext cx="347472" cy="347472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228600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41248" y="201168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Evidence — Built On This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84048" y="57607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Three real studio projects already running on the template.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84048" y="896112"/>
            <a:ext cx="2697480" cy="36118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344168" y="1188720"/>
            <a:ext cx="777240" cy="777240"/>
          </a:xfrm>
          <a:prstGeom prst="ellipse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9616" y="1344168"/>
            <a:ext cx="466344" cy="4663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84048" y="2176272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CPI Engine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12648" y="2578608"/>
            <a:ext cx="2240280" cy="310896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12648" y="2578608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6B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Sector-Agnostic Premises Intelligence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48640" y="3090672"/>
            <a:ext cx="23682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AI-powered discovery, enrichment and qualification of commercial opportunities. Currently the most mature inheritor.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218688" y="896112"/>
            <a:ext cx="2697480" cy="36118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178808" y="1188720"/>
            <a:ext cx="777240" cy="777240"/>
          </a:xfrm>
          <a:prstGeom prst="ellipse">
            <a:avLst/>
          </a:prstGeom>
          <a:solidFill>
            <a:srgbClr val="F0FDFA"/>
          </a:solidFill>
          <a:ln w="12700">
            <a:solidFill>
              <a:srgbClr val="F0FDFA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4256" y="1344168"/>
            <a:ext cx="466344" cy="46634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218688" y="2176272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Macfire Scout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3447288" y="2578608"/>
            <a:ext cx="2240280" cy="310896"/>
          </a:xfrm>
          <a:prstGeom prst="roundRect">
            <a:avLst>
              <a:gd name="adj" fmla="val 50000"/>
            </a:avLst>
          </a:prstGeom>
          <a:solidFill>
            <a:srgbClr val="F0FDFA"/>
          </a:solidFill>
          <a:ln w="12700">
            <a:solidFill>
              <a:srgbClr val="F0FDFA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3447288" y="2578608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Scottish Fire-Safety Lead Scout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3383280" y="3090672"/>
            <a:ext cx="23682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Targeted scouting agent that surfaces fire-safety leads across Scottish commercial premises.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6053328" y="896112"/>
            <a:ext cx="2697480" cy="36118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7013448" y="1188720"/>
            <a:ext cx="777240" cy="777240"/>
          </a:xfrm>
          <a:prstGeom prst="ellipse">
            <a:avLst/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8896" y="1344168"/>
            <a:ext cx="466344" cy="46634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053328" y="2176272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Weight Tracker</a:t>
            </a:r>
            <a:endParaRPr lang="en-US" sz="1400" dirty="0"/>
          </a:p>
        </p:txBody>
      </p:sp>
      <p:sp>
        <p:nvSpPr>
          <p:cNvPr id="24" name="Shape 19"/>
          <p:cNvSpPr/>
          <p:nvPr/>
        </p:nvSpPr>
        <p:spPr>
          <a:xfrm>
            <a:off x="6281928" y="2578608"/>
            <a:ext cx="2240280" cy="310896"/>
          </a:xfrm>
          <a:prstGeom prst="roundRect">
            <a:avLst>
              <a:gd name="adj" fmla="val 50000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6281928" y="2578608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WhatsApp Health Tracker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6217920" y="3090672"/>
            <a:ext cx="23682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Conversational health-tracking app delivered through WhatsApp — same governance, smaller surface area.</a:t>
            </a:r>
            <a:endParaRPr lang="en-US" sz="1050" dirty="0"/>
          </a:p>
        </p:txBody>
      </p:sp>
      <p:sp>
        <p:nvSpPr>
          <p:cNvPr id="27" name="Text 22"/>
          <p:cNvSpPr/>
          <p:nvPr/>
        </p:nvSpPr>
        <p:spPr>
          <a:xfrm>
            <a:off x="384048" y="4645152"/>
            <a:ext cx="8375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Every project ships a deck, a portfolio page, and a place on the studio dashboard — without a bespoke setup.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82880"/>
            <a:ext cx="347472" cy="347472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228600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41248" y="201168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Roadmap and Close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84048" y="57607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Where the template goes next — and the studio idea behind it.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84048" y="914400"/>
            <a:ext cx="1508760" cy="178308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93776" y="1024128"/>
            <a:ext cx="347472" cy="237744"/>
          </a:xfrm>
          <a:prstGeom prst="roundRect">
            <a:avLst>
              <a:gd name="adj" fmla="val 26923"/>
            </a:avLst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" y="1033272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86968" y="1389888"/>
            <a:ext cx="502920" cy="502920"/>
          </a:xfrm>
          <a:prstGeom prst="ellipse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1490472"/>
            <a:ext cx="301752" cy="30175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38912" y="1993392"/>
            <a:ext cx="1399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Foundation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38912" y="2322576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Template + dashboard baseline (May 21).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1901952" y="1787652"/>
            <a:ext cx="109728" cy="36576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020824" y="914400"/>
            <a:ext cx="1508760" cy="178308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130552" y="1024128"/>
            <a:ext cx="347472" cy="237744"/>
          </a:xfrm>
          <a:prstGeom prst="roundRect">
            <a:avLst>
              <a:gd name="adj" fmla="val 26923"/>
            </a:avLst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130552" y="1033272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2523744" y="1389888"/>
            <a:ext cx="502920" cy="502920"/>
          </a:xfrm>
          <a:prstGeom prst="ellipse">
            <a:avLst/>
          </a:prstGeom>
          <a:solidFill>
            <a:srgbClr val="F0FDFA"/>
          </a:solidFill>
          <a:ln w="12700">
            <a:solidFill>
              <a:srgbClr val="F0FDFA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4328" y="1490472"/>
            <a:ext cx="301752" cy="30175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2075688" y="1993392"/>
            <a:ext cx="1399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First Inheritor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2075688" y="2322576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CPI Engine fully aligned (Jun 07).</a:t>
            </a:r>
            <a:endParaRPr lang="en-US" sz="850" dirty="0"/>
          </a:p>
        </p:txBody>
      </p:sp>
      <p:sp>
        <p:nvSpPr>
          <p:cNvPr id="21" name="Shape 17"/>
          <p:cNvSpPr/>
          <p:nvPr/>
        </p:nvSpPr>
        <p:spPr>
          <a:xfrm>
            <a:off x="3538728" y="1787652"/>
            <a:ext cx="109728" cy="36576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3657600" y="914400"/>
            <a:ext cx="1508760" cy="178308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3767328" y="1024128"/>
            <a:ext cx="347472" cy="237744"/>
          </a:xfrm>
          <a:prstGeom prst="roundRect">
            <a:avLst>
              <a:gd name="adj" fmla="val 26923"/>
            </a:avLst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3767328" y="1033272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4160520" y="1389888"/>
            <a:ext cx="502920" cy="502920"/>
          </a:xfrm>
          <a:prstGeom prst="ellipse">
            <a:avLst/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1104" y="1490472"/>
            <a:ext cx="301752" cy="301752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3712464" y="1993392"/>
            <a:ext cx="1399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More Projects</a:t>
            </a:r>
            <a:endParaRPr lang="en-US" sz="1050" dirty="0"/>
          </a:p>
        </p:txBody>
      </p:sp>
      <p:sp>
        <p:nvSpPr>
          <p:cNvPr id="28" name="Text 23"/>
          <p:cNvSpPr/>
          <p:nvPr/>
        </p:nvSpPr>
        <p:spPr>
          <a:xfrm>
            <a:off x="3712464" y="2322576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Macfire, Weight Tracker onboarded.</a:t>
            </a:r>
            <a:endParaRPr lang="en-US" sz="850" dirty="0"/>
          </a:p>
        </p:txBody>
      </p:sp>
      <p:sp>
        <p:nvSpPr>
          <p:cNvPr id="29" name="Shape 24"/>
          <p:cNvSpPr/>
          <p:nvPr/>
        </p:nvSpPr>
        <p:spPr>
          <a:xfrm>
            <a:off x="5175504" y="1787652"/>
            <a:ext cx="109728" cy="36576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5294376" y="914400"/>
            <a:ext cx="1508760" cy="178308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5404104" y="1024128"/>
            <a:ext cx="347472" cy="237744"/>
          </a:xfrm>
          <a:prstGeom prst="roundRect">
            <a:avLst>
              <a:gd name="adj" fmla="val 26923"/>
            </a:avLst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5404104" y="1033272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000" dirty="0"/>
          </a:p>
        </p:txBody>
      </p:sp>
      <p:sp>
        <p:nvSpPr>
          <p:cNvPr id="33" name="Shape 28"/>
          <p:cNvSpPr/>
          <p:nvPr/>
        </p:nvSpPr>
        <p:spPr>
          <a:xfrm>
            <a:off x="5797296" y="1389888"/>
            <a:ext cx="502920" cy="502920"/>
          </a:xfrm>
          <a:prstGeom prst="ellipse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7880" y="1490472"/>
            <a:ext cx="301752" cy="301752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5349240" y="1993392"/>
            <a:ext cx="1399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Agent Automation</a:t>
            </a:r>
            <a:endParaRPr lang="en-US" sz="1050" dirty="0"/>
          </a:p>
        </p:txBody>
      </p:sp>
      <p:sp>
        <p:nvSpPr>
          <p:cNvPr id="36" name="Text 30"/>
          <p:cNvSpPr/>
          <p:nvPr/>
        </p:nvSpPr>
        <p:spPr>
          <a:xfrm>
            <a:off x="5349240" y="2322576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Showcase + portfolio agents productive.</a:t>
            </a:r>
            <a:endParaRPr lang="en-US" sz="850" dirty="0"/>
          </a:p>
        </p:txBody>
      </p:sp>
      <p:sp>
        <p:nvSpPr>
          <p:cNvPr id="37" name="Shape 31"/>
          <p:cNvSpPr/>
          <p:nvPr/>
        </p:nvSpPr>
        <p:spPr>
          <a:xfrm>
            <a:off x="6812280" y="1787652"/>
            <a:ext cx="109728" cy="36576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38" name="Shape 32"/>
          <p:cNvSpPr/>
          <p:nvPr/>
        </p:nvSpPr>
        <p:spPr>
          <a:xfrm>
            <a:off x="6931152" y="914400"/>
            <a:ext cx="1508760" cy="178308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39" name="Shape 33"/>
          <p:cNvSpPr/>
          <p:nvPr/>
        </p:nvSpPr>
        <p:spPr>
          <a:xfrm>
            <a:off x="7040880" y="1024128"/>
            <a:ext cx="347472" cy="237744"/>
          </a:xfrm>
          <a:prstGeom prst="roundRect">
            <a:avLst>
              <a:gd name="adj" fmla="val 26923"/>
            </a:avLst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7040880" y="1033272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000" dirty="0"/>
          </a:p>
        </p:txBody>
      </p:sp>
      <p:sp>
        <p:nvSpPr>
          <p:cNvPr id="41" name="Shape 35"/>
          <p:cNvSpPr/>
          <p:nvPr/>
        </p:nvSpPr>
        <p:spPr>
          <a:xfrm>
            <a:off x="7434072" y="1389888"/>
            <a:ext cx="502920" cy="502920"/>
          </a:xfrm>
          <a:prstGeom prst="ellipse">
            <a:avLst/>
          </a:prstGeom>
          <a:solidFill>
            <a:srgbClr val="F0FDFA"/>
          </a:solidFill>
          <a:ln w="12700">
            <a:solidFill>
              <a:srgbClr val="F0FDFA"/>
            </a:solidFill>
            <a:prstDash val="solid"/>
          </a:ln>
        </p:spPr>
      </p:sp>
      <p:pic>
        <p:nvPicPr>
          <p:cNvPr id="4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4656" y="1490472"/>
            <a:ext cx="301752" cy="301752"/>
          </a:xfrm>
          <a:prstGeom prst="rect">
            <a:avLst/>
          </a:prstGeom>
        </p:spPr>
      </p:pic>
      <p:sp>
        <p:nvSpPr>
          <p:cNvPr id="43" name="Text 36"/>
          <p:cNvSpPr/>
          <p:nvPr/>
        </p:nvSpPr>
        <p:spPr>
          <a:xfrm>
            <a:off x="6986016" y="1993392"/>
            <a:ext cx="1399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Scale + CI</a:t>
            </a:r>
            <a:endParaRPr lang="en-US" sz="1050" dirty="0"/>
          </a:p>
        </p:txBody>
      </p:sp>
      <p:sp>
        <p:nvSpPr>
          <p:cNvPr id="44" name="Text 37"/>
          <p:cNvSpPr/>
          <p:nvPr/>
        </p:nvSpPr>
        <p:spPr>
          <a:xfrm>
            <a:off x="6986016" y="2322576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Workflow enhancements (Jun 30).</a:t>
            </a:r>
            <a:endParaRPr lang="en-US" sz="850" dirty="0"/>
          </a:p>
        </p:txBody>
      </p:sp>
      <p:sp>
        <p:nvSpPr>
          <p:cNvPr id="45" name="Shape 38"/>
          <p:cNvSpPr/>
          <p:nvPr/>
        </p:nvSpPr>
        <p:spPr>
          <a:xfrm>
            <a:off x="384048" y="2971800"/>
            <a:ext cx="8375904" cy="1417320"/>
          </a:xfrm>
          <a:prstGeom prst="roundRect">
            <a:avLst>
              <a:gd name="adj" fmla="val 6452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pic>
        <p:nvPicPr>
          <p:cNvPr id="4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" y="3310128"/>
            <a:ext cx="457200" cy="457200"/>
          </a:xfrm>
          <a:prstGeom prst="rect">
            <a:avLst/>
          </a:prstGeom>
        </p:spPr>
      </p:pic>
      <p:sp>
        <p:nvSpPr>
          <p:cNvPr id="47" name="Text 39"/>
          <p:cNvSpPr/>
          <p:nvPr/>
        </p:nvSpPr>
        <p:spPr>
          <a:xfrm>
            <a:off x="1280160" y="310896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operating system behind every studio project.</a:t>
            </a:r>
            <a:endParaRPr lang="en-US" sz="1700" dirty="0"/>
          </a:p>
        </p:txBody>
      </p:sp>
      <p:sp>
        <p:nvSpPr>
          <p:cNvPr id="48" name="Text 40"/>
          <p:cNvSpPr/>
          <p:nvPr/>
        </p:nvSpPr>
        <p:spPr>
          <a:xfrm>
            <a:off x="1280160" y="361188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BFDBF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Reusable. Agent-driven. SSOT-disciplined. Built so every project compounds the studio.</a:t>
            </a:r>
            <a:endParaRPr lang="en-US" sz="1150" dirty="0"/>
          </a:p>
        </p:txBody>
      </p:sp>
      <p:sp>
        <p:nvSpPr>
          <p:cNvPr id="49" name="Text 41"/>
          <p:cNvSpPr/>
          <p:nvPr/>
        </p:nvSpPr>
        <p:spPr>
          <a:xfrm>
            <a:off x="384048" y="4663440"/>
            <a:ext cx="8375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Systems Studio — Jonathan McCrimmond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Systems Studio Template Showcase v0.1</dc:title>
  <dc:subject>PptxGenJS Presentation</dc:subject>
  <dc:creator>Jonathan McCrimmond</dc:creator>
  <cp:lastModifiedBy>Jonathan McCrimmond</cp:lastModifiedBy>
  <cp:revision>1</cp:revision>
  <dcterms:created xsi:type="dcterms:W3CDTF">2026-05-22T15:41:34Z</dcterms:created>
  <dcterms:modified xsi:type="dcterms:W3CDTF">2026-05-22T15:41:34Z</dcterms:modified>
</cp:coreProperties>
</file>