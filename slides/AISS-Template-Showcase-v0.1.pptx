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0" y="-457200"/>
            <a:ext cx="3840480" cy="3840480"/>
          </a:xfrm>
          <a:prstGeom prst="ellipse">
            <a:avLst/>
          </a:prstGeom>
          <a:solidFill>
            <a:srgbClr val="DBEAFE">
              <a:alpha val="60000"/>
            </a:srgbClr>
          </a:solidFill>
          <a:ln w="12700">
            <a:solidFill>
              <a:srgbClr val="DBEAFE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84048" y="658368"/>
            <a:ext cx="822960" cy="8229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22960"/>
            <a:ext cx="493776" cy="4937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7132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6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Systems Studio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84048" y="11704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Studio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384048" y="17190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Template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384048" y="24231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operating system behind every studio project — a reusable, agent-driven repo template for consistent docs, decks, and portfolio.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35040" y="109728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0D9488">
              <a:alpha val="75000"/>
            </a:srgbClr>
          </a:solidFill>
          <a:ln w="12700">
            <a:solidFill>
              <a:srgbClr val="0D9488">
                <a:alpha val="75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44768" y="150876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2F6BFF">
              <a:alpha val="75000"/>
            </a:srgbClr>
          </a:solidFill>
          <a:ln w="12700">
            <a:solidFill>
              <a:srgbClr val="2F6BFF">
                <a:alpha val="75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54496" y="192024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7C3AED">
              <a:alpha val="75000"/>
            </a:srgbClr>
          </a:solidFill>
          <a:ln w="12700">
            <a:solidFill>
              <a:srgbClr val="7C3AED">
                <a:alpha val="75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64224" y="23317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4F46E5">
              <a:alpha val="75000"/>
            </a:srgbClr>
          </a:solidFill>
          <a:ln w="12700">
            <a:solidFill>
              <a:srgbClr val="4F46E5">
                <a:alpha val="7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26480" y="11704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PROJECT_MASTER.md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236208" y="15819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ROADMAP.md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345936" y="19933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ARCHITECTURE.md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55664" y="240487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agents/  templates/  slides/  docs/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84048" y="3611880"/>
            <a:ext cx="257860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48640" y="3813048"/>
            <a:ext cx="384048" cy="384048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50" y="3889858"/>
            <a:ext cx="230429" cy="230429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42416" y="3813048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Single Source of Truth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548640" y="4297680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file governs every downstream artifact.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3118104" y="3611880"/>
            <a:ext cx="257860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3282696" y="3813048"/>
            <a:ext cx="384048" cy="384048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9506" y="3889858"/>
            <a:ext cx="230429" cy="230429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3776472" y="3813048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Agent-Driven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3282696" y="4297680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Documentation, showcase, portfolio, social — automated.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5852160" y="3611880"/>
            <a:ext cx="257860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016752" y="3813048"/>
            <a:ext cx="384048" cy="384048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562" y="3889858"/>
            <a:ext cx="230429" cy="230429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510528" y="3813048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Reusable Across Projects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6016752" y="4297680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new project ships with the same operating discipline.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01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576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Solo AI builders drift. Projects fragment. Decks, docs and portfolio pages diverge from reality.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914400"/>
            <a:ext cx="257860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99032" y="1115568"/>
            <a:ext cx="548640" cy="54864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225296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84048" y="182880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Fragmented Projects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93776" y="2176272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project reinvents its own folder layout, naming and cadence.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18104" y="914400"/>
            <a:ext cx="257860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133088" y="1115568"/>
            <a:ext cx="548640" cy="54864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225296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118104" y="182880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Drift From Reality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227832" y="2176272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Slides, READMEs and portfolio pages slowly stop matching the code.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852160" y="914400"/>
            <a:ext cx="257860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867144" y="1115568"/>
            <a:ext cx="548640" cy="54864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1225296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852160" y="182880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Shared Cadence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5961888" y="2176272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Updates happen ad-hoc; weekly and milestone rituals never form.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384048" y="3246120"/>
            <a:ext cx="8375904" cy="1508760"/>
          </a:xfrm>
          <a:prstGeom prst="roundRect">
            <a:avLst>
              <a:gd name="adj" fmla="val 4848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584448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42416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Result: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042416" y="3639312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project starts from scratch, every showcase feels improvised, and nothing compounds across the studio's body of work.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01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Solution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576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reusable, agent-driven repo template so every project ships with consistent docs, decks, and portfolio.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914400"/>
            <a:ext cx="2578608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" y="1078992"/>
            <a:ext cx="411480" cy="274320"/>
          </a:xfrm>
          <a:prstGeom prst="roundRect">
            <a:avLst>
              <a:gd name="adj" fmla="val 26667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0881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376172" y="1508760"/>
            <a:ext cx="594360" cy="59436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" y="1627632"/>
            <a:ext cx="356616" cy="35661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84048" y="2267712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From SSOT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93776" y="2596896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New project inherits PROJECT_MASTER.md and a vetted folder scaffold.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118104" y="914400"/>
            <a:ext cx="2578608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55264" y="1078992"/>
            <a:ext cx="411480" cy="274320"/>
          </a:xfrm>
          <a:prstGeom prst="roundRect">
            <a:avLst>
              <a:gd name="adj" fmla="val 26667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55264" y="10881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110228" y="1508760"/>
            <a:ext cx="594360" cy="59436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1627632"/>
            <a:ext cx="356616" cy="35661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118104" y="2267712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The Agents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3227832" y="2596896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Four agents keep docs, slides, portfolio and social in lockstep with reality.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852160" y="914400"/>
            <a:ext cx="2578608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989320" y="1078992"/>
            <a:ext cx="411480" cy="274320"/>
          </a:xfrm>
          <a:prstGeom prst="roundRect">
            <a:avLst>
              <a:gd name="adj" fmla="val 26667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989320" y="10881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844284" y="1508760"/>
            <a:ext cx="594360" cy="59436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156" y="1627632"/>
            <a:ext cx="356616" cy="35661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852160" y="2267712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Ship Consistently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5961888" y="2596896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project produces the same shaped showcase, portfolio page and update cadence.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84048" y="3566160"/>
            <a:ext cx="8375904" cy="1207008"/>
          </a:xfrm>
          <a:prstGeom prst="roundRect">
            <a:avLst>
              <a:gd name="adj" fmla="val 6061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74904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115568" y="3630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Outcome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1115568" y="393192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Faster project setup.  Documentation that stays true.  A studio body of work that visibly compounds.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01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Core Principle — SSOT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576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PROJECT_MASTER.md is the single source of truth. Everything else traces back to it.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703320" y="1097280"/>
            <a:ext cx="1737360" cy="91440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20700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703320" y="17007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PROJECT_MASTER.md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84048" y="24231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974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260604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ROADMAP.md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48640" y="3081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Sprint plan and milestones.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246120" y="24231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410712" y="2606040"/>
            <a:ext cx="457200" cy="45720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152" y="26974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995928" y="260604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ARCHITECTURE.md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3410712" y="3081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ADRs and rationale.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108192" y="24231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72784" y="2606040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269748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0" y="260604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CHANGELOG.md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6272784" y="3081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Dated milestone history.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84048" y="37033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97764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133856" y="38862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slides/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43616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Showcase decks.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246120" y="37033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3410712" y="3886200"/>
            <a:ext cx="457200" cy="45720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397764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995928" y="38862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3410712" y="43616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Notion project pages.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6108192" y="37033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6272784" y="3886200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3977640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858000" y="38862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</a:t>
            </a:r>
            <a:endParaRPr lang="en-US" sz="1150" dirty="0"/>
          </a:p>
        </p:txBody>
      </p:sp>
      <p:sp>
        <p:nvSpPr>
          <p:cNvPr id="38" name="Text 29"/>
          <p:cNvSpPr/>
          <p:nvPr/>
        </p:nvSpPr>
        <p:spPr>
          <a:xfrm>
            <a:off x="6272784" y="43616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Distribution content.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2194560" y="2121408"/>
            <a:ext cx="4754880" cy="27432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2194560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Update SSOT first. No downstream file may contradict it.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01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Agent Roster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576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Four specialised agents keep every downstream artifact aligned with the SSOT.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896112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170432"/>
            <a:ext cx="640080" cy="64008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29844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44168" y="12801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Documentation Agent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19751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Maintains PROJECT_MASTER, ROADMAP, ARCHITECTURE and CHANGELOG.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754880" y="896112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37760" y="1170432"/>
            <a:ext cx="640080" cy="64008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6" y="129844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15000" y="12801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Showcase Agent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937760" y="19751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Generates and refreshes showcase decks from project state.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84048" y="292608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6928" y="3200400"/>
            <a:ext cx="640080" cy="64008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32841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44168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Agent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66928" y="40050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Keeps Notion portfolio pages aligned with project reality.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754880" y="292608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937760" y="3200400"/>
            <a:ext cx="640080" cy="64008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3328416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71500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Media Agent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937760" y="40050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Drafts platform-ready posts from milestones and releases.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01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 Anatomy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576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a studio project needs, organised so updates are obvious.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914400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06424" y="1097280"/>
            <a:ext cx="548640" cy="54864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12070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84048" y="1773936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PROJECT_MASTER.md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57200" y="2066544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SSOT — strategy, scope, state.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505456" y="914400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27832" y="1097280"/>
            <a:ext cx="548640" cy="54864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070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05456" y="1773936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ROADMAP.md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2578608" y="2066544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Milestones and sprint plan.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626864" y="914400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349240" y="1097280"/>
            <a:ext cx="548640" cy="54864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8968" y="120700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26864" y="1773936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ARCHITECTURE.md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700016" y="2066544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Decisions and rationale.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748272" y="914400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70648" y="1097280"/>
            <a:ext cx="548640" cy="54864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376" y="120700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748272" y="1773936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CHANGELOG.md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6821424" y="2066544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Dated milestone history.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384048" y="2770632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1106424" y="2953512"/>
            <a:ext cx="548640" cy="54864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152" y="3063240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84048" y="3630168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agents/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457200" y="3922776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Four role definitions.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2505456" y="2770632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3227832" y="2953512"/>
            <a:ext cx="548640" cy="54864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7560" y="3063240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505456" y="3630168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templates/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2578608" y="3922776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Reusable scaffolds.</a:t>
            </a:r>
            <a:endParaRPr lang="en-US" sz="950" dirty="0"/>
          </a:p>
        </p:txBody>
      </p:sp>
      <p:sp>
        <p:nvSpPr>
          <p:cNvPr id="36" name="Shape 28"/>
          <p:cNvSpPr/>
          <p:nvPr/>
        </p:nvSpPr>
        <p:spPr>
          <a:xfrm>
            <a:off x="4626864" y="2770632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349240" y="2953512"/>
            <a:ext cx="548640" cy="54864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8968" y="3063240"/>
            <a:ext cx="329184" cy="329184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4626864" y="3630168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slides/</a:t>
            </a:r>
            <a:endParaRPr lang="en-US" sz="1150" dirty="0"/>
          </a:p>
        </p:txBody>
      </p:sp>
      <p:sp>
        <p:nvSpPr>
          <p:cNvPr id="40" name="Text 31"/>
          <p:cNvSpPr/>
          <p:nvPr/>
        </p:nvSpPr>
        <p:spPr>
          <a:xfrm>
            <a:off x="4700016" y="3922776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Showcase deck sources.</a:t>
            </a:r>
            <a:endParaRPr 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6748272" y="2770632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7470648" y="2953512"/>
            <a:ext cx="548640" cy="54864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0376" y="3063240"/>
            <a:ext cx="329184" cy="329184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6748272" y="3630168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docs/</a:t>
            </a:r>
            <a:endParaRPr lang="en-US" sz="1150" dirty="0"/>
          </a:p>
        </p:txBody>
      </p:sp>
      <p:sp>
        <p:nvSpPr>
          <p:cNvPr id="45" name="Text 35"/>
          <p:cNvSpPr/>
          <p:nvPr/>
        </p:nvSpPr>
        <p:spPr>
          <a:xfrm>
            <a:off x="6821424" y="3922776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 documentation.</a:t>
            </a:r>
            <a:endParaRPr lang="en-US" sz="950" dirty="0"/>
          </a:p>
        </p:txBody>
      </p:sp>
      <p:sp>
        <p:nvSpPr>
          <p:cNvPr id="46" name="Text 36"/>
          <p:cNvSpPr/>
          <p:nvPr/>
        </p:nvSpPr>
        <p:spPr>
          <a:xfrm>
            <a:off x="384048" y="464515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Plus .github/workflows/ for CI checks and assets/ for shared media.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01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Lifecycle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576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Init through distribution — the same disciplined flow on every project.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932688"/>
            <a:ext cx="1298448" cy="2423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042416"/>
            <a:ext cx="384048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0515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04672" y="1408176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499616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84048" y="19568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Init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38912" y="2249424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Clone template, rename, set identity.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691640" y="2125980"/>
            <a:ext cx="731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73936" y="932688"/>
            <a:ext cx="1298448" cy="2423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883664" y="1042416"/>
            <a:ext cx="384048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83664" y="10515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194560" y="1408176"/>
            <a:ext cx="457200" cy="45720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99616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773936" y="19568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SSOT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828800" y="2249424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Fill PROJECT_MASTER.md.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3081528" y="2125980"/>
            <a:ext cx="731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163824" y="932688"/>
            <a:ext cx="1298448" cy="2423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273552" y="1042416"/>
            <a:ext cx="384048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273552" y="10515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3584448" y="1408176"/>
            <a:ext cx="457200" cy="45720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1499616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3163824" y="19568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3218688" y="2249424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Roadmap, architecture, changelog.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4471416" y="2125980"/>
            <a:ext cx="731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4553712" y="932688"/>
            <a:ext cx="1298448" cy="2423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4663440" y="1042416"/>
            <a:ext cx="384048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4663440" y="10515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974336" y="1408176"/>
            <a:ext cx="457200" cy="45720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1499616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4553712" y="19568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Showcase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4608576" y="2249424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 the deck from state.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5861304" y="2125980"/>
            <a:ext cx="731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943600" y="932688"/>
            <a:ext cx="1298448" cy="2423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6053328" y="1042416"/>
            <a:ext cx="384048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053328" y="10515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6364224" y="1408176"/>
            <a:ext cx="457200" cy="45720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1499616"/>
            <a:ext cx="274320" cy="274320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5943600" y="19568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5998464" y="2249424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Publish Notion page.</a:t>
            </a:r>
            <a:endParaRPr lang="en-US" sz="900" dirty="0"/>
          </a:p>
        </p:txBody>
      </p:sp>
      <p:sp>
        <p:nvSpPr>
          <p:cNvPr id="45" name="Shape 38"/>
          <p:cNvSpPr/>
          <p:nvPr/>
        </p:nvSpPr>
        <p:spPr>
          <a:xfrm>
            <a:off x="7251192" y="2125980"/>
            <a:ext cx="731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7333488" y="932688"/>
            <a:ext cx="1298448" cy="2423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47" name="Shape 40"/>
          <p:cNvSpPr/>
          <p:nvPr/>
        </p:nvSpPr>
        <p:spPr>
          <a:xfrm>
            <a:off x="7443216" y="1042416"/>
            <a:ext cx="384048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7443216" y="10515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7754112" y="1408176"/>
            <a:ext cx="457200" cy="45720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5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1499616"/>
            <a:ext cx="274320" cy="274320"/>
          </a:xfrm>
          <a:prstGeom prst="rect">
            <a:avLst/>
          </a:prstGeom>
        </p:spPr>
      </p:pic>
      <p:sp>
        <p:nvSpPr>
          <p:cNvPr id="51" name="Text 43"/>
          <p:cNvSpPr/>
          <p:nvPr/>
        </p:nvSpPr>
        <p:spPr>
          <a:xfrm>
            <a:off x="7333488" y="19568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7388352" y="2249424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Distribute milestone posts.</a:t>
            </a:r>
            <a:endParaRPr lang="en-US" sz="900" dirty="0"/>
          </a:p>
        </p:txBody>
      </p:sp>
      <p:sp>
        <p:nvSpPr>
          <p:cNvPr id="53" name="Shape 45"/>
          <p:cNvSpPr/>
          <p:nvPr/>
        </p:nvSpPr>
        <p:spPr>
          <a:xfrm>
            <a:off x="384048" y="3611880"/>
            <a:ext cx="2706624" cy="73152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46"/>
          <p:cNvSpPr/>
          <p:nvPr/>
        </p:nvSpPr>
        <p:spPr>
          <a:xfrm>
            <a:off x="493776" y="3703320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6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Weekly</a:t>
            </a:r>
            <a:endParaRPr lang="en-US" sz="1100" dirty="0"/>
          </a:p>
        </p:txBody>
      </p:sp>
      <p:sp>
        <p:nvSpPr>
          <p:cNvPr id="55" name="Text 47"/>
          <p:cNvSpPr/>
          <p:nvPr/>
        </p:nvSpPr>
        <p:spPr>
          <a:xfrm>
            <a:off x="493776" y="3959352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PROJECT_MASTER + ROADMAP + AGENT_LOG</a:t>
            </a:r>
            <a:endParaRPr lang="en-US" sz="950" dirty="0"/>
          </a:p>
        </p:txBody>
      </p:sp>
      <p:sp>
        <p:nvSpPr>
          <p:cNvPr id="56" name="Shape 48"/>
          <p:cNvSpPr/>
          <p:nvPr/>
        </p:nvSpPr>
        <p:spPr>
          <a:xfrm>
            <a:off x="3218688" y="3611880"/>
            <a:ext cx="2706624" cy="73152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49"/>
          <p:cNvSpPr/>
          <p:nvPr/>
        </p:nvSpPr>
        <p:spPr>
          <a:xfrm>
            <a:off x="3328416" y="3703320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6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Milestone</a:t>
            </a:r>
            <a:endParaRPr lang="en-US" sz="1100" dirty="0"/>
          </a:p>
        </p:txBody>
      </p:sp>
      <p:sp>
        <p:nvSpPr>
          <p:cNvPr id="58" name="Text 50"/>
          <p:cNvSpPr/>
          <p:nvPr/>
        </p:nvSpPr>
        <p:spPr>
          <a:xfrm>
            <a:off x="3328416" y="3959352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CHANGELOG + slides + portfolio</a:t>
            </a:r>
            <a:endParaRPr lang="en-US" sz="950" dirty="0"/>
          </a:p>
        </p:txBody>
      </p:sp>
      <p:sp>
        <p:nvSpPr>
          <p:cNvPr id="59" name="Shape 51"/>
          <p:cNvSpPr/>
          <p:nvPr/>
        </p:nvSpPr>
        <p:spPr>
          <a:xfrm>
            <a:off x="6053328" y="3611880"/>
            <a:ext cx="2706624" cy="73152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2"/>
          <p:cNvSpPr/>
          <p:nvPr/>
        </p:nvSpPr>
        <p:spPr>
          <a:xfrm>
            <a:off x="6163056" y="3703320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6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Decision</a:t>
            </a:r>
            <a:endParaRPr lang="en-US" sz="1100" dirty="0"/>
          </a:p>
        </p:txBody>
      </p:sp>
      <p:sp>
        <p:nvSpPr>
          <p:cNvPr id="61" name="Text 53"/>
          <p:cNvSpPr/>
          <p:nvPr/>
        </p:nvSpPr>
        <p:spPr>
          <a:xfrm>
            <a:off x="6163056" y="3959352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ARCHITECTURE.md ADR entry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01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Studio Dashboard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576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static page that surfaces every studio project at a glance.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896112"/>
            <a:ext cx="39776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1051560"/>
            <a:ext cx="402336" cy="402336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31" y="113202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00584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Studio Hub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005840" y="126187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page lists every project.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84048" y="1700784"/>
            <a:ext cx="39776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12064" y="1856232"/>
            <a:ext cx="402336" cy="402336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1" y="19366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05840" y="181051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projects.json Manifest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1005840" y="2066544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file drives the page.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84048" y="2505456"/>
            <a:ext cx="39776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12064" y="2660904"/>
            <a:ext cx="402336" cy="402336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" y="2741371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2615184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Studio-Only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1005840" y="287121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Excluded from inheritance.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84048" y="3310128"/>
            <a:ext cx="39776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12064" y="3465576"/>
            <a:ext cx="402336" cy="402336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31" y="3546043"/>
            <a:ext cx="241402" cy="24140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05840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 Pages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1005840" y="367588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jonathanmccrimmond.github.io/ai-systems-studio-template/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384048" y="4114800"/>
            <a:ext cx="39776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12064" y="4270248"/>
            <a:ext cx="402336" cy="402336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4350715"/>
            <a:ext cx="241402" cy="24140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5840" y="422452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Synced With SSOT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1005840" y="44805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entry mirrors a PROJECT_MASTER.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617720" y="868680"/>
            <a:ext cx="4142232" cy="4005072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617720" y="868680"/>
            <a:ext cx="4142232" cy="310896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4727448" y="923544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Systems Studio — Projects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4727448" y="1325880"/>
            <a:ext cx="3922776" cy="804672"/>
          </a:xfrm>
          <a:prstGeom prst="roundRect">
            <a:avLst>
              <a:gd name="adj" fmla="val 6818"/>
            </a:avLst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4837176" y="1472184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074920" y="13990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CPI Engine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7754112" y="1417320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7754112" y="14173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Active</a:t>
            </a:r>
            <a:endParaRPr lang="en-US" sz="750" dirty="0"/>
          </a:p>
        </p:txBody>
      </p:sp>
      <p:sp>
        <p:nvSpPr>
          <p:cNvPr id="39" name="Text 32"/>
          <p:cNvSpPr/>
          <p:nvPr/>
        </p:nvSpPr>
        <p:spPr>
          <a:xfrm>
            <a:off x="5074920" y="1655064"/>
            <a:ext cx="3502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Sector-agnostic premises intelligence.</a:t>
            </a:r>
            <a:endParaRPr lang="en-US" sz="850" dirty="0"/>
          </a:p>
        </p:txBody>
      </p:sp>
      <p:sp>
        <p:nvSpPr>
          <p:cNvPr id="40" name="Shape 33"/>
          <p:cNvSpPr/>
          <p:nvPr/>
        </p:nvSpPr>
        <p:spPr>
          <a:xfrm>
            <a:off x="4727448" y="2203704"/>
            <a:ext cx="3922776" cy="804672"/>
          </a:xfrm>
          <a:prstGeom prst="roundRect">
            <a:avLst>
              <a:gd name="adj" fmla="val 6818"/>
            </a:avLst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837176" y="2350008"/>
            <a:ext cx="164592" cy="16459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5074920" y="22768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Macfire Scout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7754112" y="2295144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2F6BFF">
              <a:alpha val="25000"/>
            </a:srgbClr>
          </a:solidFill>
          <a:ln w="12700">
            <a:solidFill>
              <a:srgbClr val="2F6BFF">
                <a:alpha val="40000"/>
              </a:srgbClr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7754112" y="22951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6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Active</a:t>
            </a:r>
            <a:endParaRPr lang="en-US" sz="750" dirty="0"/>
          </a:p>
        </p:txBody>
      </p:sp>
      <p:sp>
        <p:nvSpPr>
          <p:cNvPr id="45" name="Text 38"/>
          <p:cNvSpPr/>
          <p:nvPr/>
        </p:nvSpPr>
        <p:spPr>
          <a:xfrm>
            <a:off x="5074920" y="2532888"/>
            <a:ext cx="3502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Fire-safety lead scout for Scotland.</a:t>
            </a:r>
            <a:endParaRPr lang="en-US" sz="850" dirty="0"/>
          </a:p>
        </p:txBody>
      </p:sp>
      <p:sp>
        <p:nvSpPr>
          <p:cNvPr id="46" name="Shape 39"/>
          <p:cNvSpPr/>
          <p:nvPr/>
        </p:nvSpPr>
        <p:spPr>
          <a:xfrm>
            <a:off x="4727448" y="3081528"/>
            <a:ext cx="3922776" cy="804672"/>
          </a:xfrm>
          <a:prstGeom prst="roundRect">
            <a:avLst>
              <a:gd name="adj" fmla="val 6818"/>
            </a:avLst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Shape 40"/>
          <p:cNvSpPr/>
          <p:nvPr/>
        </p:nvSpPr>
        <p:spPr>
          <a:xfrm>
            <a:off x="4837176" y="3227832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5074920" y="3154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Weight Tracker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7754112" y="3172968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7C3AED">
              <a:alpha val="25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7754112" y="317296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Planning</a:t>
            </a:r>
            <a:endParaRPr lang="en-US" sz="750" dirty="0"/>
          </a:p>
        </p:txBody>
      </p:sp>
      <p:sp>
        <p:nvSpPr>
          <p:cNvPr id="51" name="Text 44"/>
          <p:cNvSpPr/>
          <p:nvPr/>
        </p:nvSpPr>
        <p:spPr>
          <a:xfrm>
            <a:off x="5074920" y="3410712"/>
            <a:ext cx="3502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WhatsApp-based health tracker.</a:t>
            </a:r>
            <a:endParaRPr lang="en-US" sz="850" dirty="0"/>
          </a:p>
        </p:txBody>
      </p:sp>
      <p:sp>
        <p:nvSpPr>
          <p:cNvPr id="52" name="Shape 45"/>
          <p:cNvSpPr/>
          <p:nvPr/>
        </p:nvSpPr>
        <p:spPr>
          <a:xfrm>
            <a:off x="4727448" y="3959352"/>
            <a:ext cx="3922776" cy="804672"/>
          </a:xfrm>
          <a:prstGeom prst="roundRect">
            <a:avLst>
              <a:gd name="adj" fmla="val 6818"/>
            </a:avLst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Shape 46"/>
          <p:cNvSpPr/>
          <p:nvPr/>
        </p:nvSpPr>
        <p:spPr>
          <a:xfrm>
            <a:off x="4837176" y="4105656"/>
            <a:ext cx="164592" cy="16459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4" name="Text 47"/>
          <p:cNvSpPr/>
          <p:nvPr/>
        </p:nvSpPr>
        <p:spPr>
          <a:xfrm>
            <a:off x="5074920" y="403250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Studio Template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7754112" y="405079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4F46E5">
              <a:alpha val="25000"/>
            </a:srgbClr>
          </a:solidFill>
          <a:ln w="12700">
            <a:solidFill>
              <a:srgbClr val="4F46E5">
                <a:alpha val="40000"/>
              </a:srgbClr>
            </a:solidFill>
            <a:prstDash val="solid"/>
          </a:ln>
        </p:spPr>
      </p:sp>
      <p:sp>
        <p:nvSpPr>
          <p:cNvPr id="56" name="Text 49"/>
          <p:cNvSpPr/>
          <p:nvPr/>
        </p:nvSpPr>
        <p:spPr>
          <a:xfrm>
            <a:off x="7754112" y="40507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F46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Shipped</a:t>
            </a:r>
            <a:endParaRPr lang="en-US" sz="750" dirty="0"/>
          </a:p>
        </p:txBody>
      </p:sp>
      <p:sp>
        <p:nvSpPr>
          <p:cNvPr id="57" name="Text 50"/>
          <p:cNvSpPr/>
          <p:nvPr/>
        </p:nvSpPr>
        <p:spPr>
          <a:xfrm>
            <a:off x="5074920" y="4288536"/>
            <a:ext cx="3502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repo — the studio operating system.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01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Evidence — Built On This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576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real studio projects already running on the template.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896112"/>
            <a:ext cx="2697480" cy="36118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44168" y="1188720"/>
            <a:ext cx="777240" cy="77724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616" y="1344168"/>
            <a:ext cx="466344" cy="4663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84048" y="217627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CPI Engine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" y="2578608"/>
            <a:ext cx="2240280" cy="31089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25786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6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Sector-Agnostic Premises Intelligence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090672"/>
            <a:ext cx="2368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AI-powered discovery, enrichment and qualification of commercial opportunities. Currently the most mature inheritor.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218688" y="896112"/>
            <a:ext cx="2697480" cy="36118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178808" y="1188720"/>
            <a:ext cx="777240" cy="77724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344168"/>
            <a:ext cx="466344" cy="4663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18688" y="217627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Macfire Scout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47288" y="2578608"/>
            <a:ext cx="2240280" cy="310896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447288" y="25786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Scottish Fire-Safety Lead Scout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3383280" y="3090672"/>
            <a:ext cx="2368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Targeted scouting agent that surfaces fire-safety leads across Scottish commercial premises.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053328" y="896112"/>
            <a:ext cx="2697480" cy="36118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013448" y="1188720"/>
            <a:ext cx="777240" cy="77724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896" y="1344168"/>
            <a:ext cx="466344" cy="4663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053328" y="217627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Weight Tracker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281928" y="2578608"/>
            <a:ext cx="2240280" cy="310896"/>
          </a:xfrm>
          <a:prstGeom prst="roundRect">
            <a:avLst>
              <a:gd name="adj" fmla="val 50000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81928" y="25786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WhatsApp Health Tracker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6217920" y="3090672"/>
            <a:ext cx="2368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Conversational health-tracking app delivered through WhatsApp — same governance, smaller surface area.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384048" y="464515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project ships a deck, a portfolio page, and a place on the studio dashboard — without a bespoke setup.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182880"/>
            <a:ext cx="347472" cy="34747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28600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01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 and Close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5760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Where the template goes next — and the studio idea behind it.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914400"/>
            <a:ext cx="1508760" cy="17830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024128"/>
            <a:ext cx="347472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033272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86968" y="1389888"/>
            <a:ext cx="502920" cy="50292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490472"/>
            <a:ext cx="301752" cy="30175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38912" y="1993392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38912" y="2322576"/>
            <a:ext cx="1399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+ dashboard baseline (May 21).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1901952" y="1787652"/>
            <a:ext cx="109728" cy="36576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20824" y="914400"/>
            <a:ext cx="1508760" cy="17830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130552" y="1024128"/>
            <a:ext cx="347472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30552" y="1033272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523744" y="1389888"/>
            <a:ext cx="502920" cy="50292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490472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075688" y="1993392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 Inheritor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2075688" y="2322576"/>
            <a:ext cx="1399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CPI Engine fully aligned (Jun 07).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3538728" y="1787652"/>
            <a:ext cx="109728" cy="36576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657600" y="914400"/>
            <a:ext cx="1508760" cy="17830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767328" y="1024128"/>
            <a:ext cx="347472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767328" y="1033272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160520" y="1389888"/>
            <a:ext cx="502920" cy="502920"/>
          </a:xfrm>
          <a:prstGeom prst="ellipse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490472"/>
            <a:ext cx="301752" cy="30175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3712464" y="1993392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More Projects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3712464" y="2322576"/>
            <a:ext cx="1399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Macfire, Weight Tracker onboarded.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175504" y="1787652"/>
            <a:ext cx="109728" cy="36576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294376" y="914400"/>
            <a:ext cx="1508760" cy="17830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5404104" y="1024128"/>
            <a:ext cx="347472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5404104" y="1033272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5797296" y="1389888"/>
            <a:ext cx="502920" cy="502920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1490472"/>
            <a:ext cx="301752" cy="30175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349240" y="1993392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 Automation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5349240" y="2322576"/>
            <a:ext cx="1399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Showcase + portfolio agents productive.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6812280" y="1787652"/>
            <a:ext cx="109728" cy="36576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6931152" y="914400"/>
            <a:ext cx="1508760" cy="17830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7040880" y="1024128"/>
            <a:ext cx="347472" cy="237744"/>
          </a:xfrm>
          <a:prstGeom prst="roundRect">
            <a:avLst>
              <a:gd name="adj" fmla="val 26923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040880" y="1033272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7434072" y="1389888"/>
            <a:ext cx="502920" cy="50292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4656" y="1490472"/>
            <a:ext cx="301752" cy="301752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6986016" y="1993392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+ CI</a:t>
            </a:r>
            <a:endParaRPr lang="en-US" sz="1050" dirty="0"/>
          </a:p>
        </p:txBody>
      </p:sp>
      <p:sp>
        <p:nvSpPr>
          <p:cNvPr id="44" name="Text 37"/>
          <p:cNvSpPr/>
          <p:nvPr/>
        </p:nvSpPr>
        <p:spPr>
          <a:xfrm>
            <a:off x="6986016" y="2322576"/>
            <a:ext cx="1399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Workflow enhancements (Jun 30).</a:t>
            </a:r>
            <a:endParaRPr lang="en-US" sz="850" dirty="0"/>
          </a:p>
        </p:txBody>
      </p:sp>
      <p:sp>
        <p:nvSpPr>
          <p:cNvPr id="45" name="Shape 38"/>
          <p:cNvSpPr/>
          <p:nvPr/>
        </p:nvSpPr>
        <p:spPr>
          <a:xfrm>
            <a:off x="384048" y="2971800"/>
            <a:ext cx="8375904" cy="1417320"/>
          </a:xfrm>
          <a:prstGeom prst="roundRect">
            <a:avLst>
              <a:gd name="adj" fmla="val 6452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14000"/>
              </a:srgbClr>
            </a:outerShdw>
          </a:effectLst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3310128"/>
            <a:ext cx="457200" cy="45720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1280160" y="31089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operating system behind every studio project.</a:t>
            </a:r>
            <a:endParaRPr lang="en-US" sz="1700" dirty="0"/>
          </a:p>
        </p:txBody>
      </p:sp>
      <p:sp>
        <p:nvSpPr>
          <p:cNvPr id="48" name="Text 40"/>
          <p:cNvSpPr/>
          <p:nvPr/>
        </p:nvSpPr>
        <p:spPr>
          <a:xfrm>
            <a:off x="1280160" y="3611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FDBF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Reusable. Agent-driven. SSOT-disciplined. Built so every project compounds the studio.</a:t>
            </a:r>
            <a:endParaRPr lang="en-US" sz="1150" dirty="0"/>
          </a:p>
        </p:txBody>
      </p:sp>
      <p:sp>
        <p:nvSpPr>
          <p:cNvPr id="49" name="Text 41"/>
          <p:cNvSpPr/>
          <p:nvPr/>
        </p:nvSpPr>
        <p:spPr>
          <a:xfrm>
            <a:off x="384048" y="4663440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Systems Studio — Jonathan McCrimmond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Systems Studio Template Showcase v0.1</dc:title>
  <dc:subject>PptxGenJS Presentation</dc:subject>
  <dc:creator>Jonathan McCrimmond</dc:creator>
  <cp:lastModifiedBy>Jonathan McCrimmond</cp:lastModifiedBy>
  <cp:revision>1</cp:revision>
  <dcterms:created xsi:type="dcterms:W3CDTF">2026-05-22T15:19:20Z</dcterms:created>
  <dcterms:modified xsi:type="dcterms:W3CDTF">2026-05-22T15:19:20Z</dcterms:modified>
</cp:coreProperties>
</file>